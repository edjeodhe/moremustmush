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hp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3" r:id="rId4"/>
    <p:sldId id="264" r:id="rId5"/>
    <p:sldId id="276" r:id="rId6"/>
    <p:sldId id="265" r:id="rId7"/>
    <p:sldId id="270" r:id="rId8"/>
    <p:sldId id="271" r:id="rId9"/>
    <p:sldId id="277" r:id="rId10"/>
    <p:sldId id="278" r:id="rId11"/>
    <p:sldId id="279" r:id="rId12"/>
    <p:sldId id="28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CBB6"/>
    <a:srgbClr val="E0DDD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55405-D369-45AE-A027-492BD9EAEA7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B5534-5E23-4C98-B8AD-A2852BB21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282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8B5534-5E23-4C98-B8AD-A2852BB212C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142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6983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3" pos="7355" userDrawn="1">
          <p15:clr>
            <a:srgbClr val="FBAE40"/>
          </p15:clr>
        </p15:guide>
        <p15:guide id="4" pos="325" userDrawn="1">
          <p15:clr>
            <a:srgbClr val="FBAE40"/>
          </p15:clr>
        </p15:guide>
        <p15:guide id="5" orient="horz" pos="572" userDrawn="1">
          <p15:clr>
            <a:srgbClr val="FBAE40"/>
          </p15:clr>
        </p15:guide>
        <p15:guide id="6" orient="horz" pos="686" userDrawn="1">
          <p15:clr>
            <a:srgbClr val="FBAE40"/>
          </p15:clr>
        </p15:guide>
        <p15:guide id="7" orient="horz" pos="4088" userDrawn="1">
          <p15:clr>
            <a:srgbClr val="FBAE40"/>
          </p15:clr>
        </p15:guide>
        <p15:guide id="8" pos="3840" userDrawn="1">
          <p15:clr>
            <a:srgbClr val="FBAE40"/>
          </p15:clr>
        </p15:guide>
        <p15:guide id="9" orient="horz" pos="2387" userDrawn="1">
          <p15:clr>
            <a:srgbClr val="FBAE40"/>
          </p15:clr>
        </p15:guide>
        <p15:guide id="10" pos="2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266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3" pos="7355">
          <p15:clr>
            <a:srgbClr val="FBAE40"/>
          </p15:clr>
        </p15:guide>
        <p15:guide id="4" pos="325">
          <p15:clr>
            <a:srgbClr val="FBAE40"/>
          </p15:clr>
        </p15:guide>
        <p15:guide id="5" orient="horz" pos="572">
          <p15:clr>
            <a:srgbClr val="FBAE40"/>
          </p15:clr>
        </p15:guide>
        <p15:guide id="6" orient="horz" pos="686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pos="4974" userDrawn="1">
          <p15:clr>
            <a:srgbClr val="FBAE40"/>
          </p15:clr>
        </p15:guide>
        <p15:guide id="9" orient="horz" pos="2387">
          <p15:clr>
            <a:srgbClr val="FBAE40"/>
          </p15:clr>
        </p15:guide>
        <p15:guide id="10" pos="211">
          <p15:clr>
            <a:srgbClr val="FBAE40"/>
          </p15:clr>
        </p15:guide>
        <p15:guide id="11" pos="2706" userDrawn="1">
          <p15:clr>
            <a:srgbClr val="FBAE40"/>
          </p15:clr>
        </p15:guide>
        <p15:guide id="12" pos="5087" userDrawn="1">
          <p15:clr>
            <a:srgbClr val="FBAE40"/>
          </p15:clr>
        </p15:guide>
        <p15:guide id="13" pos="259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9F295-6B61-7D99-467A-247C52598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3570B41-322E-4DCB-78D1-794781442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52F1BB-8518-11FF-5EC4-9015105B9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4DE-93A8-4FB1-A539-105B8B78E9B2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998A94-F6E9-E8E9-4AE5-0070CEB0C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8A648-7916-E70D-C855-FE19225EE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1E13-6089-4438-B1A4-F84D695D75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733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3" pos="7355">
          <p15:clr>
            <a:srgbClr val="FBAE40"/>
          </p15:clr>
        </p15:guide>
        <p15:guide id="4" pos="325">
          <p15:clr>
            <a:srgbClr val="FBAE40"/>
          </p15:clr>
        </p15:guide>
        <p15:guide id="5" orient="horz" pos="572">
          <p15:clr>
            <a:srgbClr val="FBAE40"/>
          </p15:clr>
        </p15:guide>
        <p15:guide id="6" orient="horz" pos="686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2387">
          <p15:clr>
            <a:srgbClr val="FBAE40"/>
          </p15:clr>
        </p15:guide>
        <p15:guide id="10" pos="21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753D1-90A0-142D-ABAD-92791FE7C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16ABF5-8A24-A988-5433-246CD4681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EBE89F-0C99-DB40-7A6A-F3ED48825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4DE-93A8-4FB1-A539-105B8B78E9B2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7A6E52-FBD2-114C-73BB-4E9B2A177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D2AB12-0484-AF4A-F53D-0049F9B4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1E13-6089-4438-B1A4-F84D695D75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857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1C59B-1C69-0728-850F-28210191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2F9B47-01DB-1245-EAD7-3E332E420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8D69BB-5D3E-4B14-F739-0C32B539B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4DE-93A8-4FB1-A539-105B8B78E9B2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EC8816-8DA6-D17A-BCE3-9B5AC8640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EC6414-6743-DE49-6AD8-9248C63C6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1E13-6089-4438-B1A4-F84D695D75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801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8A82A5-26E2-8B68-0B36-267C2A091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029B14-E831-64C9-B27A-05A8F22C5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AD386A-9ACD-C7A4-B508-C22CF8CF8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FC70F-4E3D-5566-C303-816BC1499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4DE-93A8-4FB1-A539-105B8B78E9B2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4E422A-7B66-9F50-B77C-0FA663320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35E228-2B58-8FFC-D096-01BE94E22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1E13-6089-4438-B1A4-F84D695D75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284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5375C-41F1-7847-5B6C-0152A32CF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5871E0-E624-FEE3-14AB-8C573FF63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5EAD87-B26B-A854-CBAF-02149A30C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A4F63E-E615-5AB9-A041-D9D5FABEA3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6324956-D569-4FE5-4A55-A284A9FDF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4C1BD4E-E5BA-13EA-5886-7D3F16405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4DE-93A8-4FB1-A539-105B8B78E9B2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5C2740-A585-7D47-A9BD-CE374CF3C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18EBBE-ECE7-120F-ED3F-698C5E0F8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1E13-6089-4438-B1A4-F84D695D75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51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61C55-8804-63FF-382A-F0A05D947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C45CD6-38AB-8290-F910-5D2F14871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4DE-93A8-4FB1-A539-105B8B78E9B2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F299E7-2645-0E74-1A28-784F683CD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DD1ABC-1CA8-6FD5-F551-64F27C07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1E13-6089-4438-B1A4-F84D695D75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166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36C44AA-BB03-8F04-3434-5EB227C2F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4DE-93A8-4FB1-A539-105B8B78E9B2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372167D-490D-E303-996E-D40D0B1DB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BC5A4A-8ED8-001C-FFCA-5687A396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1E13-6089-4438-B1A4-F84D695D75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531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310C1-8707-A05A-97BD-316E10C0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99353E-D83C-F506-9201-F9AEBD9E6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1C2AEB-6B3E-9F55-D1CE-24C1A6C1C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EAE524-EE53-BEE3-2538-1E0546AF6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4DE-93A8-4FB1-A539-105B8B78E9B2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ECF2C2-D702-A0B5-627E-01F11E3AA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E21A6E-1F6D-3CAD-8523-14E3D8F40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1E13-6089-4438-B1A4-F84D695D75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314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08602-6F46-6163-BCB1-273732578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C1DC2E-1627-7E3B-3D61-E0E7E205E3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67009A-6222-8D54-44F4-4674FD7CB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2A879E-297A-C483-CD29-ED1920C1A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4DE-93A8-4FB1-A539-105B8B78E9B2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A7DCA7-1396-E162-3E5F-7CE110CA2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327A3-7FAD-D4BE-F88A-3BCF9BC56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1E13-6089-4438-B1A4-F84D695D75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201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105A4F-3580-B62B-D177-1CAC77A90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3AD6A4-9226-1C57-5045-D3D690FC0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32D2EA-9383-3A94-6299-0433B1C81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4DE-93A8-4FB1-A539-105B8B78E9B2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3CEB5-4D03-09EF-F710-0225F55B9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220E35-2B91-C22E-ABE8-78A8B226F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1E13-6089-4438-B1A4-F84D695D75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656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071AC4-0ECC-5264-51B8-49C8D112ED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A72D13-EC8E-B734-6248-62AB17B93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9B998-80FF-7D7C-B104-E0E3CBB72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4DE-93A8-4FB1-A539-105B8B78E9B2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F976E8-7C9F-1B28-8AE0-782749B3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AA09C1-4864-AC9B-2717-95507F7E3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1E13-6089-4438-B1A4-F84D695D75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958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894AB91-ED44-FCF8-83C3-4DC999475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2BDC6E-1811-A011-52ED-B613D8519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8B2898-8C1D-94CE-D97C-62828EB5F9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464DE-93A8-4FB1-A539-105B8B78E9B2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EB4527-A971-9765-478E-A97DF6E6B1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F6D35-2ACD-073E-3376-6D68E33AE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51E13-6089-4438-B1A4-F84D695D75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428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0.png"/><Relationship Id="rId18" Type="http://schemas.microsoft.com/office/2007/relationships/hdphoto" Target="../media/hdphoto7.wdp"/><Relationship Id="rId3" Type="http://schemas.openxmlformats.org/officeDocument/2006/relationships/image" Target="../media/image5.png"/><Relationship Id="rId21" Type="http://schemas.openxmlformats.org/officeDocument/2006/relationships/image" Target="../media/image15.png"/><Relationship Id="rId7" Type="http://schemas.openxmlformats.org/officeDocument/2006/relationships/image" Target="../media/image7.png"/><Relationship Id="rId12" Type="http://schemas.microsoft.com/office/2007/relationships/hdphoto" Target="../media/hdphoto5.wdp"/><Relationship Id="rId17" Type="http://schemas.openxmlformats.org/officeDocument/2006/relationships/image" Target="../media/image13.png"/><Relationship Id="rId2" Type="http://schemas.openxmlformats.org/officeDocument/2006/relationships/image" Target="../media/image4.jpeg"/><Relationship Id="rId16" Type="http://schemas.openxmlformats.org/officeDocument/2006/relationships/image" Target="../media/image12.jpeg"/><Relationship Id="rId20" Type="http://schemas.microsoft.com/office/2007/relationships/hdphoto" Target="../media/hdphoto8.wdp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9.png"/><Relationship Id="rId24" Type="http://schemas.microsoft.com/office/2007/relationships/hdphoto" Target="../media/hdphoto10.wdp"/><Relationship Id="rId5" Type="http://schemas.openxmlformats.org/officeDocument/2006/relationships/image" Target="../media/image6.png"/><Relationship Id="rId15" Type="http://schemas.openxmlformats.org/officeDocument/2006/relationships/image" Target="../media/image11.jpeg"/><Relationship Id="rId23" Type="http://schemas.openxmlformats.org/officeDocument/2006/relationships/image" Target="../media/image16.png"/><Relationship Id="rId10" Type="http://schemas.microsoft.com/office/2007/relationships/hdphoto" Target="../media/hdphoto4.wdp"/><Relationship Id="rId19" Type="http://schemas.openxmlformats.org/officeDocument/2006/relationships/image" Target="../media/image14.png"/><Relationship Id="rId4" Type="http://schemas.microsoft.com/office/2007/relationships/hdphoto" Target="../media/hdphoto1.wdp"/><Relationship Id="rId9" Type="http://schemas.openxmlformats.org/officeDocument/2006/relationships/image" Target="../media/image8.png"/><Relationship Id="rId14" Type="http://schemas.microsoft.com/office/2007/relationships/hdphoto" Target="../media/hdphoto6.wdp"/><Relationship Id="rId22" Type="http://schemas.microsoft.com/office/2007/relationships/hdphoto" Target="../media/hdphoto9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h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12.wdp"/><Relationship Id="rId3" Type="http://schemas.openxmlformats.org/officeDocument/2006/relationships/image" Target="../media/image24.jpg"/><Relationship Id="rId7" Type="http://schemas.openxmlformats.org/officeDocument/2006/relationships/image" Target="../media/image27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1.wdp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11907-FB29-CD69-12BE-A0D64C36CCC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2449258"/>
            <a:ext cx="9144000" cy="1630763"/>
          </a:xfrm>
        </p:spPr>
        <p:txBody>
          <a:bodyPr anchor="ctr"/>
          <a:lstStyle/>
          <a:p>
            <a:pPr algn="ctr"/>
            <a:r>
              <a:rPr lang="ko-KR" altLang="en-US" sz="3600">
                <a:solidFill>
                  <a:schemeClr val="accent2">
                    <a:lumMod val="75000"/>
                  </a:schemeClr>
                </a:solidFill>
              </a:rPr>
              <a:t>모어 머스트 머쉬</a:t>
            </a:r>
            <a:br>
              <a:rPr lang="en-US" altLang="ko-KR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altLang="ko-KR" sz="6000">
                <a:solidFill>
                  <a:schemeClr val="accent2">
                    <a:lumMod val="50000"/>
                  </a:schemeClr>
                </a:solidFill>
              </a:rPr>
              <a:t>MORE MUST MUSH</a:t>
            </a:r>
            <a:endParaRPr lang="ko-KR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954706-A4C6-C6E4-4636-B45F49BEEE3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810000" y="4225349"/>
            <a:ext cx="4572000" cy="390380"/>
          </a:xfrm>
        </p:spPr>
        <p:txBody>
          <a:bodyPr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altLang="ko-KR" sz="2800" b="1">
                <a:solidFill>
                  <a:schemeClr val="bg2">
                    <a:lumMod val="10000"/>
                  </a:schemeClr>
                </a:solidFill>
                <a:latin typeface="+mn-ea"/>
              </a:rPr>
              <a:t>- </a:t>
            </a:r>
            <a:r>
              <a:rPr lang="ko-KR" altLang="en-US" sz="2800" b="1">
                <a:solidFill>
                  <a:schemeClr val="bg2">
                    <a:lumMod val="10000"/>
                  </a:schemeClr>
                </a:solidFill>
                <a:latin typeface="+mn-ea"/>
              </a:rPr>
              <a:t>비주얼 기획서 </a:t>
            </a:r>
            <a:r>
              <a:rPr lang="en-US" altLang="ko-KR" sz="2800" b="1">
                <a:solidFill>
                  <a:schemeClr val="bg2">
                    <a:lumMod val="10000"/>
                  </a:schemeClr>
                </a:solidFill>
                <a:latin typeface="+mn-ea"/>
              </a:rPr>
              <a:t>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D38051-EFF0-E84A-D93B-31C8AD673A82}"/>
              </a:ext>
            </a:extLst>
          </p:cNvPr>
          <p:cNvSpPr txBox="1"/>
          <p:nvPr/>
        </p:nvSpPr>
        <p:spPr>
          <a:xfrm>
            <a:off x="9855339" y="5525905"/>
            <a:ext cx="1915974" cy="11054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altLang="ko-KR">
                <a:solidFill>
                  <a:schemeClr val="accent5">
                    <a:lumMod val="50000"/>
                  </a:schemeClr>
                </a:solidFill>
              </a:rPr>
              <a:t>2026.09.30</a:t>
            </a:r>
          </a:p>
          <a:p>
            <a:pPr algn="r">
              <a:lnSpc>
                <a:spcPct val="125000"/>
              </a:lnSpc>
            </a:pPr>
            <a:r>
              <a:rPr lang="ko-KR" altLang="en-US">
                <a:solidFill>
                  <a:schemeClr val="accent5">
                    <a:lumMod val="50000"/>
                  </a:schemeClr>
                </a:solidFill>
              </a:rPr>
              <a:t>팀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</a:rPr>
              <a:t>: 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</a:rPr>
              <a:t>숨쉬었음청년</a:t>
            </a:r>
            <a:endParaRPr lang="en-US" altLang="ko-KR">
              <a:solidFill>
                <a:schemeClr val="accent5">
                  <a:lumMod val="50000"/>
                </a:schemeClr>
              </a:solidFill>
            </a:endParaRPr>
          </a:p>
          <a:p>
            <a:pPr algn="r">
              <a:lnSpc>
                <a:spcPct val="125000"/>
              </a:lnSpc>
            </a:pPr>
            <a:r>
              <a:rPr lang="ko-KR" altLang="en-US">
                <a:solidFill>
                  <a:schemeClr val="accent5">
                    <a:lumMod val="50000"/>
                  </a:schemeClr>
                </a:solidFill>
              </a:rPr>
              <a:t>이름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</a:rPr>
              <a:t>: 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</a:rPr>
              <a:t>이동현</a:t>
            </a:r>
          </a:p>
        </p:txBody>
      </p:sp>
    </p:spTree>
    <p:extLst>
      <p:ext uri="{BB962C8B-B14F-4D97-AF65-F5344CB8AC3E}">
        <p14:creationId xmlns:p14="http://schemas.microsoft.com/office/powerpoint/2010/main" val="2128576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752DF-1777-33A6-C6A4-B7CEBF147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21FD697-CD88-DBCF-0326-E1A0367B0186}"/>
              </a:ext>
            </a:extLst>
          </p:cNvPr>
          <p:cNvSpPr/>
          <p:nvPr/>
        </p:nvSpPr>
        <p:spPr>
          <a:xfrm>
            <a:off x="0" y="0"/>
            <a:ext cx="1986116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FA7659-A91A-D2F2-BBE6-E0CE2B0C1DB9}"/>
              </a:ext>
            </a:extLst>
          </p:cNvPr>
          <p:cNvSpPr/>
          <p:nvPr/>
        </p:nvSpPr>
        <p:spPr>
          <a:xfrm>
            <a:off x="326773" y="368300"/>
            <a:ext cx="1332570" cy="539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>
                <a:solidFill>
                  <a:schemeClr val="bg1"/>
                </a:solidFill>
              </a:rPr>
              <a:t>버전 관리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DFDC08D-AB39-D5F1-EB41-48F39D700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642222"/>
              </p:ext>
            </p:extLst>
          </p:nvPr>
        </p:nvGraphicFramePr>
        <p:xfrm>
          <a:off x="2460373" y="2131060"/>
          <a:ext cx="81280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14323">
                  <a:extLst>
                    <a:ext uri="{9D8B030D-6E8A-4147-A177-3AD203B41FA5}">
                      <a16:colId xmlns:a16="http://schemas.microsoft.com/office/drawing/2014/main" val="12359660"/>
                    </a:ext>
                  </a:extLst>
                </a:gridCol>
                <a:gridCol w="619432">
                  <a:extLst>
                    <a:ext uri="{9D8B030D-6E8A-4147-A177-3AD203B41FA5}">
                      <a16:colId xmlns:a16="http://schemas.microsoft.com/office/drawing/2014/main" val="3552104291"/>
                    </a:ext>
                  </a:extLst>
                </a:gridCol>
                <a:gridCol w="5515897">
                  <a:extLst>
                    <a:ext uri="{9D8B030D-6E8A-4147-A177-3AD203B41FA5}">
                      <a16:colId xmlns:a16="http://schemas.microsoft.com/office/drawing/2014/main" val="1691204581"/>
                    </a:ext>
                  </a:extLst>
                </a:gridCol>
                <a:gridCol w="878348">
                  <a:extLst>
                    <a:ext uri="{9D8B030D-6E8A-4147-A177-3AD203B41FA5}">
                      <a16:colId xmlns:a16="http://schemas.microsoft.com/office/drawing/2014/main" val="4467417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날짜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버전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수정 내역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작성자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541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2026.10.01</a:t>
                      </a:r>
                      <a:endParaRPr lang="ko-KR" altLang="en-US" sz="105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Ver.01</a:t>
                      </a:r>
                      <a:endParaRPr lang="ko-KR" altLang="en-US" sz="105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문서 초안 작성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이동현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455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6862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AEE5E-80C7-F3B3-220E-DF46ACA68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1A1085F0-B9AD-2BEC-4AFC-8ED7536645CB}"/>
              </a:ext>
            </a:extLst>
          </p:cNvPr>
          <p:cNvSpPr/>
          <p:nvPr/>
        </p:nvSpPr>
        <p:spPr>
          <a:xfrm>
            <a:off x="0" y="0"/>
            <a:ext cx="1986116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8C9C56-6AD2-46BC-4305-8F742FA4F31D}"/>
              </a:ext>
            </a:extLst>
          </p:cNvPr>
          <p:cNvSpPr/>
          <p:nvPr/>
        </p:nvSpPr>
        <p:spPr>
          <a:xfrm>
            <a:off x="326773" y="368300"/>
            <a:ext cx="1332570" cy="539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b="1">
                <a:solidFill>
                  <a:schemeClr val="bg1"/>
                </a:solidFill>
              </a:rPr>
              <a:t>목 차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35823AE-543D-33FA-0F0B-959FF6EAE8C4}"/>
              </a:ext>
            </a:extLst>
          </p:cNvPr>
          <p:cNvGrpSpPr/>
          <p:nvPr/>
        </p:nvGrpSpPr>
        <p:grpSpPr>
          <a:xfrm>
            <a:off x="2460373" y="908050"/>
            <a:ext cx="2799884" cy="1835146"/>
            <a:chOff x="981964" y="3048000"/>
            <a:chExt cx="4746012" cy="183514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F3461748-974E-B3F6-32BF-1CF266FC8FE3}"/>
                </a:ext>
              </a:extLst>
            </p:cNvPr>
            <p:cNvSpPr/>
            <p:nvPr/>
          </p:nvSpPr>
          <p:spPr>
            <a:xfrm>
              <a:off x="1531956" y="3596610"/>
              <a:ext cx="4196020" cy="12865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342900" indent="-342900">
                <a:lnSpc>
                  <a:spcPct val="125000"/>
                </a:lnSpc>
                <a:buAutoNum type="arabicPeriod"/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공통 화풍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 marL="342900" indent="-342900">
                <a:lnSpc>
                  <a:spcPct val="125000"/>
                </a:lnSpc>
                <a:buAutoNum type="arabicPeriod"/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배경 컨셉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EAB6674-0B39-5788-D186-93F381B6BB39}"/>
                </a:ext>
              </a:extLst>
            </p:cNvPr>
            <p:cNvSpPr/>
            <p:nvPr/>
          </p:nvSpPr>
          <p:spPr>
            <a:xfrm>
              <a:off x="981964" y="3048000"/>
              <a:ext cx="4746012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01. </a:t>
              </a:r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컨셉 테마</a:t>
              </a:r>
              <a:endParaRPr lang="ko-KR" altLang="en-US" sz="2400" b="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E6868490-06B6-61EA-590E-1F6308FB7C4D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D24EEDA-ACBD-1150-D704-29FD7C5A8B20}"/>
              </a:ext>
            </a:extLst>
          </p:cNvPr>
          <p:cNvGrpSpPr/>
          <p:nvPr/>
        </p:nvGrpSpPr>
        <p:grpSpPr>
          <a:xfrm>
            <a:off x="5543513" y="908050"/>
            <a:ext cx="2799884" cy="1835146"/>
            <a:chOff x="981964" y="3048000"/>
            <a:chExt cx="4746012" cy="1835146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1F75315-0B27-7317-2877-16E39E3EF50F}"/>
                </a:ext>
              </a:extLst>
            </p:cNvPr>
            <p:cNvSpPr/>
            <p:nvPr/>
          </p:nvSpPr>
          <p:spPr>
            <a:xfrm>
              <a:off x="1531956" y="3596610"/>
              <a:ext cx="4196020" cy="12865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342900" indent="-342900">
                <a:lnSpc>
                  <a:spcPct val="125000"/>
                </a:lnSpc>
                <a:buAutoNum type="arabicPeriod"/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맵 비주얼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 marL="342900" indent="-342900">
                <a:lnSpc>
                  <a:spcPct val="125000"/>
                </a:lnSpc>
                <a:buAutoNum type="arabicPeriod"/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캐릭터 비주얼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 marL="342900" indent="-342900">
                <a:lnSpc>
                  <a:spcPct val="125000"/>
                </a:lnSpc>
                <a:buAutoNum type="arabicPeriod"/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버섯 비주얼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 marL="342900" indent="-342900">
                <a:lnSpc>
                  <a:spcPct val="125000"/>
                </a:lnSpc>
                <a:buAutoNum type="arabicPeriod"/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수확기 비주얼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 marL="342900" indent="-342900">
                <a:lnSpc>
                  <a:spcPct val="125000"/>
                </a:lnSpc>
                <a:buAutoNum type="arabicPeriod"/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슬라이드 바 비주얼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D03B24E-3657-48F8-6FEE-8DF8658FD057}"/>
                </a:ext>
              </a:extLst>
            </p:cNvPr>
            <p:cNvSpPr/>
            <p:nvPr/>
          </p:nvSpPr>
          <p:spPr>
            <a:xfrm>
              <a:off x="981964" y="3048000"/>
              <a:ext cx="4746012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02. </a:t>
              </a:r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요소별 비주얼</a:t>
              </a:r>
              <a:endParaRPr lang="ko-KR" altLang="en-US" sz="2400" b="1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FFDE1CCC-A1A4-68EB-7240-B8FF58F7B046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64950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36A02-497E-D5AA-70CC-7586E1247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E8AD3FD-9ED9-1398-C8EF-10401EB6B827}"/>
              </a:ext>
            </a:extLst>
          </p:cNvPr>
          <p:cNvSpPr/>
          <p:nvPr/>
        </p:nvSpPr>
        <p:spPr>
          <a:xfrm>
            <a:off x="0" y="0"/>
            <a:ext cx="1986116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948A77-5426-9C4A-CF48-F07528730F63}"/>
              </a:ext>
            </a:extLst>
          </p:cNvPr>
          <p:cNvSpPr/>
          <p:nvPr/>
        </p:nvSpPr>
        <p:spPr>
          <a:xfrm>
            <a:off x="326773" y="368300"/>
            <a:ext cx="1332570" cy="539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>
                <a:solidFill>
                  <a:schemeClr val="bg1"/>
                </a:solidFill>
              </a:rPr>
              <a:t>01.</a:t>
            </a:r>
            <a:endParaRPr lang="ko-KR" altLang="en-US" sz="3600" b="1">
              <a:solidFill>
                <a:schemeClr val="bg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07F949-FE7A-D972-658F-096A6104808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2613618"/>
            <a:ext cx="9144000" cy="1630763"/>
          </a:xfrm>
        </p:spPr>
        <p:txBody>
          <a:bodyPr anchor="ctr">
            <a:normAutofit/>
          </a:bodyPr>
          <a:lstStyle/>
          <a:p>
            <a:pPr algn="ctr"/>
            <a:r>
              <a:rPr lang="ko-KR" altLang="en-US" sz="6000">
                <a:solidFill>
                  <a:schemeClr val="accent2">
                    <a:lumMod val="50000"/>
                  </a:schemeClr>
                </a:solidFill>
              </a:rPr>
              <a:t>컨셉 테마</a:t>
            </a:r>
          </a:p>
        </p:txBody>
      </p:sp>
    </p:spTree>
    <p:extLst>
      <p:ext uri="{BB962C8B-B14F-4D97-AF65-F5344CB8AC3E}">
        <p14:creationId xmlns:p14="http://schemas.microsoft.com/office/powerpoint/2010/main" val="3858422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13967-0AA7-99FF-38FC-D9A123E0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FD08A28-3D3A-47B7-DA02-38A87AEEC02E}"/>
              </a:ext>
            </a:extLst>
          </p:cNvPr>
          <p:cNvSpPr/>
          <p:nvPr/>
        </p:nvSpPr>
        <p:spPr>
          <a:xfrm>
            <a:off x="334963" y="368300"/>
            <a:ext cx="8592727" cy="4905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01. </a:t>
            </a:r>
            <a:r>
              <a:rPr lang="ko-KR" altLang="en-US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공통 화풍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D5ECB3B-0F48-B1E7-6B35-694503595783}"/>
              </a:ext>
            </a:extLst>
          </p:cNvPr>
          <p:cNvCxnSpPr>
            <a:cxnSpLocks/>
          </p:cNvCxnSpPr>
          <p:nvPr/>
        </p:nvCxnSpPr>
        <p:spPr>
          <a:xfrm>
            <a:off x="334963" y="908050"/>
            <a:ext cx="11341100" cy="0"/>
          </a:xfrm>
          <a:prstGeom prst="line">
            <a:avLst/>
          </a:prstGeom>
          <a:ln w="6350">
            <a:gradFill>
              <a:gsLst>
                <a:gs pos="97000">
                  <a:schemeClr val="accent1">
                    <a:lumMod val="5000"/>
                    <a:lumOff val="95000"/>
                  </a:schemeClr>
                </a:gs>
                <a:gs pos="44000">
                  <a:schemeClr val="accent1">
                    <a:lumMod val="45000"/>
                    <a:lumOff val="55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0" name="그림 69">
            <a:extLst>
              <a:ext uri="{FF2B5EF4-FFF2-40B4-BE49-F238E27FC236}">
                <a16:creationId xmlns:a16="http://schemas.microsoft.com/office/drawing/2014/main" id="{AB2FD575-75C4-FEC5-5D6A-68BDE5EF8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79" y="1273517"/>
            <a:ext cx="2657719" cy="37605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61F154C-C8EA-528D-FA0D-CC200C45EE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224" y="1273517"/>
            <a:ext cx="2901475" cy="22857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B6ED1187-74F7-62CC-0B3A-C1A873D7A1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662" y="1273517"/>
            <a:ext cx="4450401" cy="23372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E3EACE72-E549-CDF3-95B5-078F46D58E75}"/>
              </a:ext>
            </a:extLst>
          </p:cNvPr>
          <p:cNvGrpSpPr/>
          <p:nvPr/>
        </p:nvGrpSpPr>
        <p:grpSpPr>
          <a:xfrm>
            <a:off x="3792223" y="3883362"/>
            <a:ext cx="2901475" cy="2602491"/>
            <a:chOff x="981964" y="3048000"/>
            <a:chExt cx="3629365" cy="2602491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9C587267-3153-475D-8667-4B01AB8DC791}"/>
                </a:ext>
              </a:extLst>
            </p:cNvPr>
            <p:cNvSpPr/>
            <p:nvPr/>
          </p:nvSpPr>
          <p:spPr>
            <a:xfrm>
              <a:off x="981964" y="3596610"/>
              <a:ext cx="3629365" cy="20538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큰 눈과 대비되는 작은 손발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작고 앙증 맞은 행동 묘사 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캐주얼한 </a:t>
              </a:r>
              <a:r>
                <a:rPr lang="en-US" altLang="ko-KR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2D </a:t>
              </a: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데포르메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CC006A7D-0694-6CB0-DB99-339891DD8805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뚜까펫</a:t>
              </a:r>
              <a:r>
                <a:rPr lang="en-US" altLang="ko-KR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: </a:t>
              </a:r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서바이벌</a:t>
              </a:r>
            </a:p>
          </p:txBody>
        </p: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94F6E851-3F52-C6A4-B100-A0FBC05D5E92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35CE0657-8B35-BD79-501E-AAF0DCB4979F}"/>
              </a:ext>
            </a:extLst>
          </p:cNvPr>
          <p:cNvGrpSpPr/>
          <p:nvPr/>
        </p:nvGrpSpPr>
        <p:grpSpPr>
          <a:xfrm>
            <a:off x="7225662" y="3883362"/>
            <a:ext cx="4450401" cy="2602491"/>
            <a:chOff x="981964" y="3048000"/>
            <a:chExt cx="3629365" cy="2602491"/>
          </a:xfrm>
        </p:grpSpPr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09866946-E92A-8F24-4307-096D575CB18D}"/>
                </a:ext>
              </a:extLst>
            </p:cNvPr>
            <p:cNvSpPr/>
            <p:nvPr/>
          </p:nvSpPr>
          <p:spPr>
            <a:xfrm>
              <a:off x="981964" y="3596610"/>
              <a:ext cx="3629365" cy="20538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고채도의 밝은 셀 채색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둥글고 굵은 선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전체적으로 밝은 명암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CE39A40C-0962-FD25-954E-54DE6838AF2C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쿠키런 킹덤</a:t>
              </a:r>
            </a:p>
          </p:txBody>
        </p: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F1FE6EB5-C160-D2BA-76F8-50ED962B92ED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C9B85DD9-DA1C-F393-02CF-D4DB3F107A56}"/>
              </a:ext>
            </a:extLst>
          </p:cNvPr>
          <p:cNvGrpSpPr/>
          <p:nvPr/>
        </p:nvGrpSpPr>
        <p:grpSpPr>
          <a:xfrm>
            <a:off x="613479" y="5230381"/>
            <a:ext cx="2901475" cy="1170401"/>
            <a:chOff x="981964" y="3048000"/>
            <a:chExt cx="3629365" cy="1170401"/>
          </a:xfrm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FC05C21E-2950-76E2-204C-BA578585058C}"/>
                </a:ext>
              </a:extLst>
            </p:cNvPr>
            <p:cNvSpPr/>
            <p:nvPr/>
          </p:nvSpPr>
          <p:spPr>
            <a:xfrm>
              <a:off x="981964" y="3596611"/>
              <a:ext cx="3629365" cy="6217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부드러운 동화풍 비주얼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1C584419-D79A-F966-5413-C51A21CC436B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마물과 보내는 방법</a:t>
              </a:r>
            </a:p>
          </p:txBody>
        </p: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9550D007-EC34-C2A3-50F2-4A92BBE55DDE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8790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861CF85-366B-E3C6-61E0-28E9B2E14B8E}"/>
              </a:ext>
            </a:extLst>
          </p:cNvPr>
          <p:cNvSpPr/>
          <p:nvPr/>
        </p:nvSpPr>
        <p:spPr>
          <a:xfrm>
            <a:off x="334963" y="368300"/>
            <a:ext cx="8592727" cy="4905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02. </a:t>
            </a:r>
            <a:r>
              <a:rPr lang="ko-KR" altLang="en-US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배경 컨셉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40911FF-483E-AB93-60F6-55339C0023E9}"/>
              </a:ext>
            </a:extLst>
          </p:cNvPr>
          <p:cNvCxnSpPr>
            <a:cxnSpLocks/>
          </p:cNvCxnSpPr>
          <p:nvPr/>
        </p:nvCxnSpPr>
        <p:spPr>
          <a:xfrm>
            <a:off x="334963" y="908050"/>
            <a:ext cx="11341100" cy="0"/>
          </a:xfrm>
          <a:prstGeom prst="line">
            <a:avLst/>
          </a:prstGeom>
          <a:ln w="6350">
            <a:gradFill>
              <a:gsLst>
                <a:gs pos="97000">
                  <a:schemeClr val="accent1">
                    <a:lumMod val="5000"/>
                    <a:lumOff val="95000"/>
                  </a:schemeClr>
                </a:gs>
                <a:gs pos="44000">
                  <a:schemeClr val="accent1">
                    <a:lumMod val="45000"/>
                    <a:lumOff val="55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B471269B-F5CD-7185-D8F0-A21951B5780A}"/>
              </a:ext>
            </a:extLst>
          </p:cNvPr>
          <p:cNvGrpSpPr/>
          <p:nvPr/>
        </p:nvGrpSpPr>
        <p:grpSpPr>
          <a:xfrm>
            <a:off x="625993" y="4550376"/>
            <a:ext cx="3600450" cy="1440039"/>
            <a:chOff x="981964" y="3048000"/>
            <a:chExt cx="3629365" cy="144003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7990C2E-30C2-A21B-B794-B5D1269B65F7}"/>
                </a:ext>
              </a:extLst>
            </p:cNvPr>
            <p:cNvSpPr/>
            <p:nvPr/>
          </p:nvSpPr>
          <p:spPr>
            <a:xfrm>
              <a:off x="981964" y="3596610"/>
              <a:ext cx="3629365" cy="8914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5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거대한 버섯으로 마을 건물까지 뒤덮인 모습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B1100ED-84DF-3CCD-95EA-E8B4930C63BF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버섯에 뒤덮인 마을</a:t>
              </a: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FF26041B-23F4-76F3-25A6-D27CD4AEAC4E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06D34E4-C42D-66E7-81B6-7F985C5483AC}"/>
              </a:ext>
            </a:extLst>
          </p:cNvPr>
          <p:cNvGrpSpPr/>
          <p:nvPr/>
        </p:nvGrpSpPr>
        <p:grpSpPr>
          <a:xfrm>
            <a:off x="4537605" y="4550376"/>
            <a:ext cx="3600450" cy="1440039"/>
            <a:chOff x="981964" y="3048000"/>
            <a:chExt cx="3629365" cy="1440039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56D0D6C-2861-90BA-074B-8AD55561EA78}"/>
                </a:ext>
              </a:extLst>
            </p:cNvPr>
            <p:cNvSpPr/>
            <p:nvPr/>
          </p:nvSpPr>
          <p:spPr>
            <a:xfrm>
              <a:off x="981964" y="3596610"/>
              <a:ext cx="3629365" cy="8914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5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나무와 버섯이 빽빽히 들어선 숲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2228236-36D5-75DE-E5D7-AE7E923DC909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숲</a:t>
              </a:r>
              <a:r>
                <a:rPr lang="ko-KR" altLang="en-US" sz="24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4CA32444-4B87-B500-DA59-B07AD9AF280D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038CE82-0E2C-8DA3-2029-FA09593906B9}"/>
              </a:ext>
            </a:extLst>
          </p:cNvPr>
          <p:cNvGrpSpPr/>
          <p:nvPr/>
        </p:nvGrpSpPr>
        <p:grpSpPr>
          <a:xfrm>
            <a:off x="609601" y="1295353"/>
            <a:ext cx="3568314" cy="2948126"/>
            <a:chOff x="609601" y="1295353"/>
            <a:chExt cx="3568314" cy="2948126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F6F1E4DA-3AE7-4EBB-7BBC-1AA0AD779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8" r="23980"/>
            <a:stretch>
              <a:fillRect/>
            </a:stretch>
          </p:blipFill>
          <p:spPr>
            <a:xfrm>
              <a:off x="609601" y="1295353"/>
              <a:ext cx="3568314" cy="2928007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C5812C46-C139-DF53-05CF-EBAC043CB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939" b="89985" l="8832" r="89946">
                          <a14:foregroundMark x1="46332" y1="21330" x2="53668" y2="23242"/>
                          <a14:foregroundMark x1="8832" y1="63226" x2="11821" y2="63685"/>
                          <a14:backgroundMark x1="55978" y1="31881" x2="60870" y2="34098"/>
                          <a14:backgroundMark x1="42799" y1="25000" x2="42799" y2="25000"/>
                          <a14:backgroundMark x1="45109" y1="25382" x2="45109" y2="25382"/>
                          <a14:backgroundMark x1="43614" y1="29664" x2="43614" y2="29664"/>
                          <a14:backgroundMark x1="42935" y1="29511" x2="42935" y2="29511"/>
                          <a14:backgroundMark x1="44837" y1="29434" x2="44837" y2="29434"/>
                          <a14:backgroundMark x1="45924" y1="29434" x2="45924" y2="29434"/>
                          <a14:backgroundMark x1="54891" y1="19725" x2="55571" y2="19801"/>
                          <a14:backgroundMark x1="52989" y1="19725" x2="54755" y2="19648"/>
                          <a14:backgroundMark x1="56250" y1="20260" x2="57473" y2="20183"/>
                          <a14:backgroundMark x1="58424" y1="52370" x2="60326" y2="53135"/>
                          <a14:backgroundMark x1="50543" y1="51147" x2="56522" y2="50612"/>
                          <a14:backgroundMark x1="50000" y1="57798" x2="51087" y2="57492"/>
                          <a14:backgroundMark x1="45245" y1="58639" x2="50272" y2="58410"/>
                          <a14:backgroundMark x1="40897" y1="59633" x2="44429" y2="58792"/>
                          <a14:backgroundMark x1="38587" y1="63073" x2="39402" y2="63303"/>
                          <a14:backgroundMark x1="39946" y1="64297" x2="39402" y2="63609"/>
                          <a14:backgroundMark x1="41168" y1="64526" x2="40353" y2="64144"/>
                        </a14:backgroundRemoval>
                      </a14:imgEffect>
                    </a14:imgLayer>
                  </a14:imgProps>
                </a:ext>
              </a:extLst>
            </a:blip>
            <a:srcRect t="17012" b="24690"/>
            <a:stretch>
              <a:fillRect/>
            </a:stretch>
          </p:blipFill>
          <p:spPr>
            <a:xfrm rot="900000" flipH="1">
              <a:off x="972840" y="1727070"/>
              <a:ext cx="898727" cy="931117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1EAC6D51-0838-544C-6441-141FB7CAF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939" b="89985" l="8832" r="89946">
                          <a14:foregroundMark x1="46332" y1="21330" x2="53668" y2="23242"/>
                          <a14:foregroundMark x1="8832" y1="63226" x2="11821" y2="63685"/>
                          <a14:backgroundMark x1="55978" y1="31881" x2="60870" y2="34098"/>
                          <a14:backgroundMark x1="42799" y1="25000" x2="42799" y2="25000"/>
                          <a14:backgroundMark x1="45109" y1="25382" x2="45109" y2="25382"/>
                          <a14:backgroundMark x1="43614" y1="29664" x2="43614" y2="29664"/>
                          <a14:backgroundMark x1="42935" y1="29511" x2="42935" y2="29511"/>
                          <a14:backgroundMark x1="44837" y1="29434" x2="44837" y2="29434"/>
                          <a14:backgroundMark x1="45924" y1="29434" x2="45924" y2="29434"/>
                          <a14:backgroundMark x1="54891" y1="19725" x2="55571" y2="19801"/>
                          <a14:backgroundMark x1="52989" y1="19725" x2="54755" y2="19648"/>
                          <a14:backgroundMark x1="56250" y1="20260" x2="57473" y2="20183"/>
                          <a14:backgroundMark x1="58424" y1="52370" x2="60326" y2="53135"/>
                          <a14:backgroundMark x1="50543" y1="51147" x2="56522" y2="50612"/>
                          <a14:backgroundMark x1="50000" y1="57798" x2="51087" y2="57492"/>
                          <a14:backgroundMark x1="45245" y1="58639" x2="50272" y2="58410"/>
                          <a14:backgroundMark x1="40897" y1="59633" x2="44429" y2="58792"/>
                          <a14:backgroundMark x1="38587" y1="63073" x2="39402" y2="63303"/>
                          <a14:backgroundMark x1="39946" y1="64297" x2="39402" y2="63609"/>
                          <a14:backgroundMark x1="41168" y1="64526" x2="40353" y2="64144"/>
                        </a14:backgroundRemoval>
                      </a14:imgEffect>
                    </a14:imgLayer>
                  </a14:imgProps>
                </a:ext>
              </a:extLst>
            </a:blip>
            <a:srcRect t="17012" b="24690"/>
            <a:stretch>
              <a:fillRect/>
            </a:stretch>
          </p:blipFill>
          <p:spPr>
            <a:xfrm rot="20700000">
              <a:off x="3351919" y="2201752"/>
              <a:ext cx="748590" cy="775570"/>
            </a:xfrm>
            <a:prstGeom prst="rect">
              <a:avLst/>
            </a:prstGeom>
          </p:spPr>
        </p:pic>
        <p:pic>
          <p:nvPicPr>
            <p:cNvPr id="27" name="그림 26" descr="포함된 내용: mushrooms">
              <a:extLst>
                <a:ext uri="{FF2B5EF4-FFF2-40B4-BE49-F238E27FC236}">
                  <a16:creationId xmlns:a16="http://schemas.microsoft.com/office/drawing/2014/main" id="{2E014E19-8036-EBFD-97BA-7637B9A72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3626" b="97544" l="9123" r="90000">
                          <a14:foregroundMark x1="40526" y1="6199" x2="37544" y2="13216"/>
                          <a14:foregroundMark x1="45614" y1="5029" x2="52456" y2="5380"/>
                          <a14:foregroundMark x1="9123" y1="42573" x2="11579" y2="42924"/>
                          <a14:foregroundMark x1="38772" y1="3626" x2="37895" y2="4912"/>
                          <a14:foregroundMark x1="64912" y1="91813" x2="61053" y2="95556"/>
                          <a14:foregroundMark x1="64561" y1="65263" x2="64561" y2="65263"/>
                          <a14:foregroundMark x1="64211" y1="66667" x2="64211" y2="66667"/>
                          <a14:foregroundMark x1="65965" y1="67368" x2="65965" y2="67368"/>
                          <a14:foregroundMark x1="67719" y1="67135" x2="67719" y2="67135"/>
                          <a14:foregroundMark x1="68070" y1="66784" x2="68070" y2="66784"/>
                          <a14:foregroundMark x1="67895" y1="66550" x2="67895" y2="66550"/>
                          <a14:foregroundMark x1="46140" y1="96257" x2="46140" y2="96257"/>
                          <a14:foregroundMark x1="43684" y1="97544" x2="52105" y2="97310"/>
                          <a14:foregroundMark x1="58947" y1="97427" x2="61053" y2="96023"/>
                          <a14:foregroundMark x1="15789" y1="38012" x2="18596" y2="38596"/>
                          <a14:foregroundMark x1="15439" y1="38129" x2="20702" y2="39298"/>
                          <a14:foregroundMark x1="14386" y1="37661" x2="17018" y2="38246"/>
                          <a14:foregroundMark x1="53509" y1="29942" x2="54912" y2="30877"/>
                          <a14:foregroundMark x1="58246" y1="33216" x2="58246" y2="33801"/>
                          <a14:backgroundMark x1="59123" y1="32865" x2="59123" y2="32865"/>
                          <a14:backgroundMark x1="59825" y1="33216" x2="59825" y2="3321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2293835" y="1706154"/>
              <a:ext cx="748591" cy="1122887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170E0EE1-85A1-6153-D81C-4AB810409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9824" r="90176">
                          <a14:foregroundMark x1="90176" y1="38958" x2="90176" y2="3895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711994" y="1812464"/>
              <a:ext cx="748591" cy="905098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13AF5C5A-2939-9AA9-0AC2-836CAF979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3750" l="10000" r="90000">
                          <a14:foregroundMark x1="42642" y1="55750" x2="53208" y2="48875"/>
                          <a14:foregroundMark x1="60377" y1="51375" x2="84906" y2="41125"/>
                          <a14:foregroundMark x1="89623" y1="39875" x2="87925" y2="40625"/>
                          <a14:foregroundMark x1="55849" y1="89750" x2="59245" y2="92500"/>
                          <a14:foregroundMark x1="49623" y1="92500" x2="54340" y2="93750"/>
                          <a14:foregroundMark x1="33962" y1="19000" x2="31698" y2="19875"/>
                          <a14:foregroundMark x1="38113" y1="17500" x2="35660" y2="17500"/>
                          <a14:foregroundMark x1="25849" y1="24125" x2="24717" y2="26250"/>
                          <a14:foregroundMark x1="25660" y1="25125" x2="24717" y2="27375"/>
                          <a14:foregroundMark x1="23774" y1="27125" x2="22642" y2="28875"/>
                          <a14:foregroundMark x1="23396" y1="26625" x2="22264" y2="28500"/>
                          <a14:foregroundMark x1="40189" y1="17375" x2="47925" y2="17375"/>
                          <a14:foregroundMark x1="39057" y1="17000" x2="43962" y2="17125"/>
                          <a14:foregroundMark x1="47358" y1="25750" x2="55660" y2="35125"/>
                          <a14:foregroundMark x1="47547" y1="93750" x2="55849" y2="9375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2619" y="2490634"/>
              <a:ext cx="749949" cy="1131999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A79EF7DC-C100-0977-F94B-467910E8E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8750" b="90000" l="10000" r="90000">
                          <a14:foregroundMark x1="40417" y1="9583" x2="55694" y2="9167"/>
                          <a14:foregroundMark x1="37361" y1="8750" x2="39306" y2="12083"/>
                          <a14:foregroundMark x1="69444" y1="56250" x2="67083" y2="56389"/>
                          <a14:foregroundMark x1="66250" y1="58889" x2="63472" y2="54583"/>
                          <a14:foregroundMark x1="66944" y1="58889" x2="64444" y2="56389"/>
                          <a14:foregroundMark x1="67083" y1="59722" x2="64306" y2="53056"/>
                          <a14:foregroundMark x1="43056" y1="53472" x2="44861" y2="57500"/>
                          <a14:foregroundMark x1="49583" y1="65278" x2="51528" y2="77361"/>
                          <a14:foregroundMark x1="44011" y1="81806" x2="45000" y2="81806"/>
                          <a14:foregroundMark x1="54028" y1="81944" x2="57639" y2="83611"/>
                          <a14:backgroundMark x1="39583" y1="85139" x2="49583" y2="87778"/>
                          <a14:backgroundMark x1="42083" y1="84167" x2="48611" y2="85556"/>
                          <a14:backgroundMark x1="50278" y1="85833" x2="60833" y2="86111"/>
                          <a14:backgroundMark x1="48889" y1="84306" x2="51944" y2="86250"/>
                          <a14:backgroundMark x1="58472" y1="87917" x2="64167" y2="89861"/>
                          <a14:backgroundMark x1="39583" y1="81806" x2="42778" y2="8375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1451" y="3091595"/>
              <a:ext cx="1151884" cy="1151884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2F8E9565-4EF1-5C1A-7EFF-9D63A2193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9817" b="96256" l="2853" r="95245">
                          <a14:foregroundMark x1="8832" y1="31614" x2="7201" y2="38270"/>
                          <a14:foregroundMark x1="85598" y1="28702" x2="90897" y2="35774"/>
                          <a14:foregroundMark x1="95788" y1="35191" x2="95516" y2="38436"/>
                          <a14:foregroundMark x1="5027" y1="35358" x2="10054" y2="41098"/>
                          <a14:foregroundMark x1="30707" y1="19052" x2="24321" y2="20383"/>
                          <a14:foregroundMark x1="33016" y1="18552" x2="28533" y2="19052"/>
                          <a14:foregroundMark x1="33832" y1="92679" x2="49321" y2="92346"/>
                          <a14:foregroundMark x1="35462" y1="95008" x2="46603" y2="96339"/>
                          <a14:foregroundMark x1="2853" y1="35441" x2="10326" y2="38852"/>
                          <a14:foregroundMark x1="40761" y1="16389" x2="37908" y2="18552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027667" y="2385335"/>
              <a:ext cx="692740" cy="1131350"/>
            </a:xfrm>
            <a:prstGeom prst="rect">
              <a:avLst/>
            </a:prstGeom>
          </p:spPr>
        </p:pic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22366B0C-9E4A-5B43-3BB4-44B70FFA87D1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6471" r="19866"/>
          <a:stretch>
            <a:fillRect/>
          </a:stretch>
        </p:blipFill>
        <p:spPr>
          <a:xfrm>
            <a:off x="4547234" y="1288678"/>
            <a:ext cx="3316622" cy="29304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240E63E9-91CA-8121-9231-710BFD6F72AD}"/>
              </a:ext>
            </a:extLst>
          </p:cNvPr>
          <p:cNvGrpSpPr/>
          <p:nvPr/>
        </p:nvGrpSpPr>
        <p:grpSpPr>
          <a:xfrm>
            <a:off x="8449217" y="4564738"/>
            <a:ext cx="3600450" cy="1440039"/>
            <a:chOff x="981964" y="3048000"/>
            <a:chExt cx="3629365" cy="1440039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0145F013-381E-B803-11C0-04AA7651A8B6}"/>
                </a:ext>
              </a:extLst>
            </p:cNvPr>
            <p:cNvSpPr/>
            <p:nvPr/>
          </p:nvSpPr>
          <p:spPr>
            <a:xfrm>
              <a:off x="981964" y="3596610"/>
              <a:ext cx="3629365" cy="8914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5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야생화와 잔디밭을 뒤덮은 버섯 필드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95E4F76B-D857-91B2-0C13-1A874F2C033C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평야</a:t>
              </a:r>
              <a:r>
                <a:rPr lang="ko-KR" altLang="en-US" sz="24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3397DFEA-EB54-27E6-0D1C-62381360149C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5A2CF692-FDCC-CC27-F2C3-B78B0BBE8AAC}"/>
              </a:ext>
            </a:extLst>
          </p:cNvPr>
          <p:cNvGrpSpPr/>
          <p:nvPr/>
        </p:nvGrpSpPr>
        <p:grpSpPr>
          <a:xfrm>
            <a:off x="8496367" y="1275689"/>
            <a:ext cx="2915490" cy="2947671"/>
            <a:chOff x="8449218" y="1288678"/>
            <a:chExt cx="2915490" cy="2947671"/>
          </a:xfrm>
        </p:grpSpPr>
        <p:pic>
          <p:nvPicPr>
            <p:cNvPr id="53" name="그림 52" descr="스토리 핀 이미지">
              <a:extLst>
                <a:ext uri="{FF2B5EF4-FFF2-40B4-BE49-F238E27FC236}">
                  <a16:creationId xmlns:a16="http://schemas.microsoft.com/office/drawing/2014/main" id="{9361D423-6366-665B-75A1-55BC5DD70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t="6570" b="17799"/>
            <a:stretch>
              <a:fillRect/>
            </a:stretch>
          </p:blipFill>
          <p:spPr>
            <a:xfrm>
              <a:off x="8449218" y="1288678"/>
              <a:ext cx="2915490" cy="292800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57" name="그림 56" descr="스토리 핀 이미지">
              <a:extLst>
                <a:ext uri="{FF2B5EF4-FFF2-40B4-BE49-F238E27FC236}">
                  <a16:creationId xmlns:a16="http://schemas.microsoft.com/office/drawing/2014/main" id="{926FEA88-50C5-BFF0-17A5-05549C0C5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backgroundRemoval t="10000" b="90000" l="10000" r="90000">
                          <a14:backgroundMark x1="58560" y1="55888" x2="61277" y2="57790"/>
                          <a14:backgroundMark x1="63995" y1="68659" x2="61141" y2="71649"/>
                          <a14:backgroundMark x1="66712" y1="74819" x2="67935" y2="75000"/>
                          <a14:backgroundMark x1="70109" y1="73641" x2="70245" y2="74366"/>
                          <a14:backgroundMark x1="70380" y1="73098" x2="70380" y2="73098"/>
                          <a14:backgroundMark x1="66576" y1="66123" x2="66576" y2="66123"/>
                          <a14:backgroundMark x1="52989" y1="64221" x2="52989" y2="64221"/>
                          <a14:backgroundMark x1="48641" y1="70652" x2="48641" y2="70652"/>
                          <a14:backgroundMark x1="33832" y1="72101" x2="33832" y2="72101"/>
                          <a14:backgroundMark x1="33016" y1="69293" x2="33016" y2="69293"/>
                          <a14:backgroundMark x1="33832" y1="71377" x2="33696" y2="73641"/>
                          <a14:backgroundMark x1="32745" y1="69203" x2="33288" y2="69565"/>
                          <a14:backgroundMark x1="39674" y1="62772" x2="38995" y2="63587"/>
                        </a14:backgroundRemoval>
                      </a14:imgEffect>
                    </a14:imgLayer>
                  </a14:imgProps>
                </a:ext>
              </a:extLst>
            </a:blip>
            <a:srcRect l="10306" t="24717"/>
            <a:stretch>
              <a:fillRect/>
            </a:stretch>
          </p:blipFill>
          <p:spPr>
            <a:xfrm>
              <a:off x="8472503" y="1295352"/>
              <a:ext cx="1176598" cy="1481313"/>
            </a:xfrm>
            <a:prstGeom prst="rect">
              <a:avLst/>
            </a:prstGeom>
          </p:spPr>
        </p:pic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75E9179A-D912-EDF7-05ED-3A8797F51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backgroundRemoval t="10000" b="90000" l="9333" r="90000">
                          <a14:foregroundMark x1="9333" y1="69250" x2="15667" y2="69250"/>
                          <a14:foregroundMark x1="20333" y1="55500" x2="18667" y2="60000"/>
                          <a14:foregroundMark x1="38667" y1="22250" x2="32000" y2="28500"/>
                          <a14:foregroundMark x1="45333" y1="20250" x2="41000" y2="31500"/>
                          <a14:foregroundMark x1="33667" y1="79000" x2="35000" y2="79750"/>
                          <a14:foregroundMark x1="33333" y1="79000" x2="34667" y2="81000"/>
                          <a14:foregroundMark x1="33000" y1="79250" x2="35000" y2="81250"/>
                          <a14:foregroundMark x1="58333" y1="78250" x2="54333" y2="79750"/>
                          <a14:foregroundMark x1="56000" y1="80000" x2="53000" y2="80250"/>
                          <a14:foregroundMark x1="49000" y1="80250" x2="50667" y2="8025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72503" y="3123824"/>
              <a:ext cx="834394" cy="1112525"/>
            </a:xfrm>
            <a:prstGeom prst="rect">
              <a:avLst/>
            </a:prstGeom>
          </p:spPr>
        </p:pic>
        <p:pic>
          <p:nvPicPr>
            <p:cNvPr id="60" name="그림 59" descr="스토리 핀 이미지">
              <a:extLst>
                <a:ext uri="{FF2B5EF4-FFF2-40B4-BE49-F238E27FC236}">
                  <a16:creationId xmlns:a16="http://schemas.microsoft.com/office/drawing/2014/main" id="{66521836-EC5C-B20C-443C-32CA126335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backgroundRemoval t="8517" b="98565" l="3750" r="97639">
                          <a14:foregroundMark x1="35000" y1="8517" x2="37361" y2="14067"/>
                          <a14:foregroundMark x1="14832" y1="86695" x2="16667" y2="90909"/>
                          <a14:foregroundMark x1="21555" y1="81465" x2="23391" y2="83362"/>
                          <a14:foregroundMark x1="26485" y1="83526" x2="28391" y2="86606"/>
                          <a14:foregroundMark x1="35435" y1="91606" x2="37270" y2="91573"/>
                          <a14:foregroundMark x1="65383" y1="77300" x2="64167" y2="75502"/>
                          <a14:foregroundMark x1="72430" y1="87724" x2="71958" y2="87025"/>
                          <a14:foregroundMark x1="72809" y1="88285" x2="72622" y2="88008"/>
                          <a14:foregroundMark x1="20693" y1="71039" x2="18987" y2="70864"/>
                          <a14:foregroundMark x1="35009" y1="72508" x2="25418" y2="71524"/>
                          <a14:foregroundMark x1="64167" y1="75502" x2="51281" y2="74179"/>
                          <a14:foregroundMark x1="13845" y1="70961" x2="12509" y2="71275"/>
                          <a14:foregroundMark x1="73246" y1="86596" x2="72602" y2="87715"/>
                          <a14:foregroundMark x1="76229" y1="81413" x2="75723" y2="82292"/>
                          <a14:foregroundMark x1="87816" y1="91501" x2="87069" y2="93592"/>
                          <a14:foregroundMark x1="96822" y1="86325" x2="97639" y2="87177"/>
                          <a14:foregroundMark x1="86806" y1="75885" x2="86947" y2="76032"/>
                          <a14:foregroundMark x1="91667" y1="94258" x2="88085" y2="94869"/>
                          <a14:foregroundMark x1="18691" y1="98512" x2="17222" y2="98565"/>
                          <a14:foregroundMark x1="5412" y1="94377" x2="5417" y2="94450"/>
                          <a14:foregroundMark x1="5288" y1="92684" x2="5397" y2="94178"/>
                          <a14:foregroundMark x1="3874" y1="73370" x2="4038" y2="75612"/>
                          <a14:foregroundMark x1="3750" y1="71675" x2="3787" y2="72183"/>
                          <a14:foregroundMark x1="28611" y1="36651" x2="27639" y2="40096"/>
                          <a14:foregroundMark x1="59306" y1="50622" x2="57500" y2="54641"/>
                          <a14:foregroundMark x1="70556" y1="44402" x2="70556" y2="45933"/>
                          <a14:foregroundMark x1="44444" y1="39043" x2="41111" y2="44019"/>
                          <a14:foregroundMark x1="53056" y1="62967" x2="51806" y2="65742"/>
                          <a14:foregroundMark x1="36528" y1="67560" x2="37917" y2="71100"/>
                          <a14:foregroundMark x1="69028" y1="66220" x2="68750" y2="67177"/>
                          <a14:foregroundMark x1="77500" y1="71388" x2="76806" y2="72727"/>
                          <a14:backgroundMark x1="37917" y1="39139" x2="37917" y2="39139"/>
                          <a14:backgroundMark x1="32639" y1="21053" x2="32639" y2="21053"/>
                          <a14:backgroundMark x1="54722" y1="43732" x2="54722" y2="43732"/>
                          <a14:backgroundMark x1="51389" y1="42679" x2="54444" y2="49282"/>
                          <a14:backgroundMark x1="37361" y1="37129" x2="36944" y2="42201"/>
                          <a14:backgroundMark x1="22222" y1="47368" x2="22361" y2="47943"/>
                          <a14:backgroundMark x1="24306" y1="44306" x2="24306" y2="44306"/>
                          <a14:backgroundMark x1="7778" y1="55694" x2="7778" y2="55694"/>
                          <a14:backgroundMark x1="17500" y1="59617" x2="17500" y2="59617"/>
                          <a14:backgroundMark x1="18750" y1="61340" x2="18750" y2="61340"/>
                          <a14:backgroundMark x1="44444" y1="54737" x2="44444" y2="54737"/>
                          <a14:backgroundMark x1="55694" y1="52536" x2="55694" y2="52536"/>
                          <a14:backgroundMark x1="49861" y1="56746" x2="49861" y2="56746"/>
                          <a14:backgroundMark x1="49861" y1="58278" x2="49861" y2="58278"/>
                          <a14:backgroundMark x1="64167" y1="48421" x2="65556" y2="50048"/>
                          <a14:backgroundMark x1="65000" y1="40766" x2="65556" y2="45359"/>
                          <a14:backgroundMark x1="67639" y1="39139" x2="66250" y2="40191"/>
                          <a14:backgroundMark x1="67361" y1="27273" x2="69444" y2="30431"/>
                          <a14:backgroundMark x1="77361" y1="39426" x2="76389" y2="41818"/>
                          <a14:backgroundMark x1="75556" y1="50622" x2="76528" y2="53684"/>
                          <a14:backgroundMark x1="77778" y1="53589" x2="77083" y2="56555"/>
                          <a14:backgroundMark x1="78750" y1="49761" x2="78472" y2="52823"/>
                          <a14:backgroundMark x1="76111" y1="61531" x2="76111" y2="60766"/>
                          <a14:backgroundMark x1="76250" y1="60766" x2="76389" y2="60096"/>
                          <a14:backgroundMark x1="77361" y1="59713" x2="76250" y2="61435"/>
                          <a14:backgroundMark x1="35694" y1="45550" x2="35139" y2="47177"/>
                          <a14:backgroundMark x1="41528" y1="28900" x2="41528" y2="28900"/>
                          <a14:backgroundMark x1="41389" y1="28995" x2="41806" y2="29761"/>
                          <a14:backgroundMark x1="40972" y1="28517" x2="42083" y2="30526"/>
                          <a14:backgroundMark x1="40278" y1="27656" x2="42083" y2="30622"/>
                          <a14:backgroundMark x1="16250" y1="75598" x2="17639" y2="86794"/>
                          <a14:backgroundMark x1="10278" y1="71866" x2="23333" y2="87368"/>
                          <a14:backgroundMark x1="17639" y1="77129" x2="44444" y2="90526"/>
                          <a14:backgroundMark x1="44444" y1="90526" x2="71667" y2="89091"/>
                          <a14:backgroundMark x1="71667" y1="89091" x2="30000" y2="76842"/>
                          <a14:backgroundMark x1="30000" y1="76842" x2="18194" y2="80861"/>
                          <a14:backgroundMark x1="5139" y1="71675" x2="21111" y2="89761"/>
                          <a14:backgroundMark x1="8611" y1="68134" x2="8750" y2="81244"/>
                          <a14:backgroundMark x1="8750" y1="81244" x2="14583" y2="92440"/>
                          <a14:backgroundMark x1="4306" y1="75598" x2="6250" y2="92632"/>
                          <a14:backgroundMark x1="6528" y1="93014" x2="51806" y2="95407"/>
                          <a14:backgroundMark x1="51806" y1="95407" x2="52361" y2="95215"/>
                          <a14:backgroundMark x1="22500" y1="86986" x2="66667" y2="95981"/>
                          <a14:backgroundMark x1="25417" y1="94450" x2="74306" y2="97225"/>
                          <a14:backgroundMark x1="22500" y1="95215" x2="44167" y2="97033"/>
                          <a14:backgroundMark x1="44167" y1="97033" x2="86944" y2="94928"/>
                          <a14:backgroundMark x1="86944" y1="94928" x2="88611" y2="94067"/>
                          <a14:backgroundMark x1="92083" y1="82297" x2="82361" y2="95215"/>
                          <a14:backgroundMark x1="90278" y1="74833" x2="75556" y2="98182"/>
                          <a14:backgroundMark x1="67222" y1="72440" x2="68889" y2="87751"/>
                          <a14:backgroundMark x1="85694" y1="77321" x2="46111" y2="87560"/>
                          <a14:backgroundMark x1="78056" y1="83254" x2="47917" y2="93301"/>
                          <a14:backgroundMark x1="92361" y1="76555" x2="91806" y2="89761"/>
                          <a14:backgroundMark x1="94861" y1="82871" x2="93750" y2="92249"/>
                          <a14:backgroundMark x1="70972" y1="88325" x2="50139" y2="93301"/>
                          <a14:backgroundMark x1="78889" y1="89569" x2="56389" y2="89952"/>
                          <a14:backgroundMark x1="23333" y1="87177" x2="29583" y2="92632"/>
                          <a14:backgroundMark x1="17083" y1="79139" x2="23889" y2="93206"/>
                          <a14:backgroundMark x1="23889" y1="93206" x2="16250" y2="79713"/>
                          <a14:backgroundMark x1="16250" y1="79713" x2="15972" y2="79522"/>
                          <a14:backgroundMark x1="5417" y1="79713" x2="21389" y2="88134"/>
                          <a14:backgroundMark x1="21389" y1="88134" x2="34444" y2="91292"/>
                          <a14:backgroundMark x1="13056" y1="78565" x2="34306" y2="93110"/>
                          <a14:backgroundMark x1="34306" y1="93110" x2="17778" y2="81435"/>
                          <a14:backgroundMark x1="17778" y1="81435" x2="12778" y2="84019"/>
                          <a14:backgroundMark x1="20556" y1="96555" x2="40417" y2="97608"/>
                          <a14:backgroundMark x1="19167" y1="97990" x2="30556" y2="97799"/>
                          <a14:backgroundMark x1="21389" y1="73206" x2="20278" y2="81435"/>
                          <a14:backgroundMark x1="14028" y1="67368" x2="19444" y2="75407"/>
                          <a14:backgroundMark x1="23056" y1="70526" x2="23056" y2="76746"/>
                          <a14:backgroundMark x1="46528" y1="68804" x2="44444" y2="76459"/>
                          <a14:backgroundMark x1="44583" y1="66220" x2="47500" y2="71196"/>
                          <a14:backgroundMark x1="55833" y1="71675" x2="45000" y2="73876"/>
                          <a14:backgroundMark x1="30694" y1="64976" x2="32500" y2="68325"/>
                          <a14:backgroundMark x1="35694" y1="71962" x2="43611" y2="74354"/>
                          <a14:backgroundMark x1="73750" y1="67943" x2="71528" y2="71100"/>
                          <a14:backgroundMark x1="76528" y1="76746" x2="83194" y2="76651"/>
                          <a14:backgroundMark x1="82083" y1="73876" x2="79306" y2="76938"/>
                          <a14:backgroundMark x1="82778" y1="71770" x2="80972" y2="75789"/>
                          <a14:backgroundMark x1="8889" y1="59426" x2="12222" y2="65550"/>
                          <a14:backgroundMark x1="10833" y1="63158" x2="14167" y2="68038"/>
                          <a14:backgroundMark x1="11806" y1="63158" x2="14722" y2="68134"/>
                          <a14:backgroundMark x1="12222" y1="62105" x2="13333" y2="65359"/>
                          <a14:backgroundMark x1="19028" y1="59330" x2="21250" y2="62775"/>
                          <a14:backgroundMark x1="49306" y1="41531" x2="46806" y2="4794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799087" y="1984685"/>
              <a:ext cx="778523" cy="1129940"/>
            </a:xfrm>
            <a:prstGeom prst="rect">
              <a:avLst/>
            </a:prstGeom>
          </p:spPr>
        </p:pic>
        <p:pic>
          <p:nvPicPr>
            <p:cNvPr id="56" name="그림 55" descr="스토리 핀 이미지">
              <a:extLst>
                <a:ext uri="{FF2B5EF4-FFF2-40B4-BE49-F238E27FC236}">
                  <a16:creationId xmlns:a16="http://schemas.microsoft.com/office/drawing/2014/main" id="{D047888B-1D4F-ECDC-EBA1-69DC02AD6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BEBA8EAE-BF5A-486C-A8C5-ECC9F3942E4B}">
                  <a14:imgProps xmlns:a14="http://schemas.microsoft.com/office/drawing/2010/main">
                    <a14:imgLayer r:embed="rId24">
                      <a14:imgEffect>
                        <a14:backgroundRemoval t="6806" b="95556" l="10000" r="91944">
                          <a14:foregroundMark x1="39861" y1="9167" x2="58056" y2="6806"/>
                          <a14:foregroundMark x1="33333" y1="33611" x2="46667" y2="48194"/>
                          <a14:foregroundMark x1="36667" y1="45972" x2="52500" y2="57500"/>
                          <a14:foregroundMark x1="41389" y1="41528" x2="57083" y2="41528"/>
                          <a14:foregroundMark x1="53750" y1="66389" x2="54861" y2="81806"/>
                          <a14:foregroundMark x1="64444" y1="63056" x2="60833" y2="84583"/>
                          <a14:foregroundMark x1="63194" y1="78611" x2="68056" y2="88056"/>
                          <a14:foregroundMark x1="37083" y1="94583" x2="40972" y2="92361"/>
                          <a14:foregroundMark x1="63611" y1="94861" x2="64444" y2="95833"/>
                          <a14:foregroundMark x1="90278" y1="38611" x2="89722" y2="47917"/>
                          <a14:foregroundMark x1="91944" y1="40139" x2="88333" y2="53611"/>
                          <a14:backgroundMark x1="28611" y1="89861" x2="20417" y2="96389"/>
                          <a14:backgroundMark x1="75278" y1="72917" x2="81389" y2="75694"/>
                          <a14:backgroundMark x1="73750" y1="72083" x2="77639" y2="75278"/>
                          <a14:backgroundMark x1="51111" y1="92639" x2="51944" y2="98750"/>
                          <a14:backgroundMark x1="55000" y1="92639" x2="58611" y2="95694"/>
                          <a14:backgroundMark x1="53194" y1="90972" x2="55000" y2="92639"/>
                          <a14:backgroundMark x1="50833" y1="95417" x2="52639" y2="98056"/>
                          <a14:backgroundMark x1="54861" y1="91250" x2="56944" y2="93194"/>
                          <a14:backgroundMark x1="55278" y1="91250" x2="56667" y2="92361"/>
                          <a14:backgroundMark x1="54167" y1="90417" x2="56389" y2="91944"/>
                          <a14:backgroundMark x1="66944" y1="97778" x2="70556" y2="95972"/>
                          <a14:backgroundMark x1="54722" y1="90972" x2="56111" y2="9180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393653" y="2591398"/>
              <a:ext cx="930691" cy="9306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2539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53BC7-C244-C69A-E40E-AFA1BCF94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9775BE9-C68E-0DFB-CF30-4B853E5C21E6}"/>
              </a:ext>
            </a:extLst>
          </p:cNvPr>
          <p:cNvSpPr/>
          <p:nvPr/>
        </p:nvSpPr>
        <p:spPr>
          <a:xfrm>
            <a:off x="0" y="0"/>
            <a:ext cx="1986116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07A13D-F12A-FCE1-00E5-3D2C8ED13104}"/>
              </a:ext>
            </a:extLst>
          </p:cNvPr>
          <p:cNvSpPr/>
          <p:nvPr/>
        </p:nvSpPr>
        <p:spPr>
          <a:xfrm>
            <a:off x="326773" y="368300"/>
            <a:ext cx="1332570" cy="539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>
                <a:solidFill>
                  <a:schemeClr val="bg1"/>
                </a:solidFill>
              </a:rPr>
              <a:t>02.</a:t>
            </a:r>
            <a:endParaRPr lang="ko-KR" altLang="en-US" sz="3600" b="1">
              <a:solidFill>
                <a:schemeClr val="bg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58933C1-2C7D-DF2B-DD89-DE28F39FC5C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2613618"/>
            <a:ext cx="9144000" cy="1630763"/>
          </a:xfrm>
        </p:spPr>
        <p:txBody>
          <a:bodyPr anchor="ctr">
            <a:normAutofit/>
          </a:bodyPr>
          <a:lstStyle/>
          <a:p>
            <a:pPr algn="ctr"/>
            <a:r>
              <a:rPr lang="ko-KR" altLang="en-US" sz="6000">
                <a:solidFill>
                  <a:schemeClr val="accent2">
                    <a:lumMod val="50000"/>
                  </a:schemeClr>
                </a:solidFill>
              </a:rPr>
              <a:t>요소별 비주얼</a:t>
            </a:r>
          </a:p>
        </p:txBody>
      </p:sp>
    </p:spTree>
    <p:extLst>
      <p:ext uri="{BB962C8B-B14F-4D97-AF65-F5344CB8AC3E}">
        <p14:creationId xmlns:p14="http://schemas.microsoft.com/office/powerpoint/2010/main" val="406567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5784D-FC4C-A1AA-80EC-EEE55EEC1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C338FB9-687E-84C5-9DD7-5A084FCA80CC}"/>
              </a:ext>
            </a:extLst>
          </p:cNvPr>
          <p:cNvSpPr/>
          <p:nvPr/>
        </p:nvSpPr>
        <p:spPr>
          <a:xfrm>
            <a:off x="334963" y="368300"/>
            <a:ext cx="8592727" cy="4905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01. </a:t>
            </a:r>
            <a:r>
              <a:rPr lang="ko-KR" altLang="en-US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맵 비주얼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1C644B9-2D96-4BB9-9EC3-69D1E9957FF8}"/>
              </a:ext>
            </a:extLst>
          </p:cNvPr>
          <p:cNvCxnSpPr>
            <a:cxnSpLocks/>
          </p:cNvCxnSpPr>
          <p:nvPr/>
        </p:nvCxnSpPr>
        <p:spPr>
          <a:xfrm>
            <a:off x="334963" y="908050"/>
            <a:ext cx="11341100" cy="0"/>
          </a:xfrm>
          <a:prstGeom prst="line">
            <a:avLst/>
          </a:prstGeom>
          <a:ln w="6350">
            <a:gradFill>
              <a:gsLst>
                <a:gs pos="97000">
                  <a:schemeClr val="accent1">
                    <a:lumMod val="5000"/>
                    <a:lumOff val="95000"/>
                  </a:schemeClr>
                </a:gs>
                <a:gs pos="44000">
                  <a:schemeClr val="accent1">
                    <a:lumMod val="45000"/>
                    <a:lumOff val="55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EC074099-53CB-2EDC-F928-ED82E1CE404B}"/>
              </a:ext>
            </a:extLst>
          </p:cNvPr>
          <p:cNvGrpSpPr/>
          <p:nvPr/>
        </p:nvGrpSpPr>
        <p:grpSpPr>
          <a:xfrm>
            <a:off x="611186" y="1304337"/>
            <a:ext cx="3160701" cy="3160702"/>
            <a:chOff x="611187" y="1304337"/>
            <a:chExt cx="4229686" cy="4229686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C8023BB8-DC95-0310-9057-44DAB13E0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187" y="1304337"/>
              <a:ext cx="4229686" cy="422968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38B81265-FC34-AE61-ACC0-96BB4BF05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2780" y="4101216"/>
              <a:ext cx="398340" cy="393290"/>
            </a:xfrm>
            <a:prstGeom prst="rect">
              <a:avLst/>
            </a:prstGeom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B035F8A8-DC10-97D5-CF77-93EE4BF8A163}"/>
              </a:ext>
            </a:extLst>
          </p:cNvPr>
          <p:cNvGrpSpPr/>
          <p:nvPr/>
        </p:nvGrpSpPr>
        <p:grpSpPr>
          <a:xfrm>
            <a:off x="611186" y="4664403"/>
            <a:ext cx="3160701" cy="1903542"/>
            <a:chOff x="981964" y="3048000"/>
            <a:chExt cx="3629365" cy="190354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76ABA71-3C25-330A-24A6-9C2C0A868411}"/>
                </a:ext>
              </a:extLst>
            </p:cNvPr>
            <p:cNvSpPr/>
            <p:nvPr/>
          </p:nvSpPr>
          <p:spPr>
            <a:xfrm>
              <a:off x="981964" y="3596610"/>
              <a:ext cx="3629365" cy="135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다양한 종류의 버섯이 뒤덮인</a:t>
              </a:r>
              <a:r>
                <a:rPr lang="en-US" altLang="ko-KR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 </a:t>
              </a: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상태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버섯이 구조물과 자연물을 모두 침식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맵 가장자리에 구조물 또는 자연물을</a:t>
              </a:r>
              <a:br>
                <a:rPr lang="en-US" altLang="ko-KR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</a:b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배치해 시선 분산 최소화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9CB0D86-17F1-7C5D-7615-D2E32BB2263C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맵 컨셉</a:t>
              </a: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04266E2-BD35-0469-DFCB-45752D33DAFD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ACB0734B-021F-B0CC-FE7B-2DA835C3B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083" y="2813113"/>
            <a:ext cx="766191" cy="76619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28BD5D8-3CAC-CF00-FF31-BC9EBCEA2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65" y="1859146"/>
            <a:ext cx="1208675" cy="119335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E8938F5-E9A2-8D2D-EAF0-53F777312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0398" y="1582780"/>
            <a:ext cx="295463" cy="29546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D15373A-EBFB-F72F-FD3E-D659C9544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0509" y="2991461"/>
            <a:ext cx="875077" cy="87507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31C1680-28A2-7000-5A91-3AE347DFD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380" y="1691694"/>
            <a:ext cx="767894" cy="758158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5E4C2B36-95C5-9DC5-B326-2EE3BA7CD1CE}"/>
              </a:ext>
            </a:extLst>
          </p:cNvPr>
          <p:cNvGrpSpPr/>
          <p:nvPr/>
        </p:nvGrpSpPr>
        <p:grpSpPr>
          <a:xfrm>
            <a:off x="4146961" y="4664403"/>
            <a:ext cx="3607081" cy="1579079"/>
            <a:chOff x="981964" y="3048000"/>
            <a:chExt cx="3629365" cy="1579079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E462661-6592-22FA-2E47-8B36C2427FAC}"/>
                </a:ext>
              </a:extLst>
            </p:cNvPr>
            <p:cNvSpPr/>
            <p:nvPr/>
          </p:nvSpPr>
          <p:spPr>
            <a:xfrm>
              <a:off x="981964" y="3596610"/>
              <a:ext cx="3629365" cy="10304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가장자리로 갈수록</a:t>
              </a:r>
              <a:r>
                <a:rPr lang="en-US" altLang="ko-KR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 </a:t>
              </a: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점점 굵어지는 선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밝은 채색과 대비되는 어두운 명암의 선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깔끔한 브러쉬 선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02798D4-B15F-C95C-D57C-AA4CB6E4C03A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선</a:t>
              </a:r>
              <a:r>
                <a:rPr lang="en-US" altLang="ko-KR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스타일</a:t>
              </a: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FB56324A-7702-3ABA-2CA6-06FE92F5BFD8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961E240-DA41-F3EE-6F73-EE2EF700882C}"/>
              </a:ext>
            </a:extLst>
          </p:cNvPr>
          <p:cNvGrpSpPr/>
          <p:nvPr/>
        </p:nvGrpSpPr>
        <p:grpSpPr>
          <a:xfrm>
            <a:off x="8093898" y="4664403"/>
            <a:ext cx="3656142" cy="1579078"/>
            <a:chOff x="981964" y="3048000"/>
            <a:chExt cx="5357606" cy="1579078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1DBA7668-7F5E-0B2C-62CD-0159A8DEAE50}"/>
                </a:ext>
              </a:extLst>
            </p:cNvPr>
            <p:cNvSpPr/>
            <p:nvPr/>
          </p:nvSpPr>
          <p:spPr>
            <a:xfrm>
              <a:off x="981964" y="3596610"/>
              <a:ext cx="5357606" cy="10304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단면만으로 경계를 나눈 셀 채색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눈을 휘어잡는 강렬한 고채도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한 면을 단색으로만 주로 표현하여 버섯과 구분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587B609-552A-B725-A844-7D9C62AC13A3}"/>
                </a:ext>
              </a:extLst>
            </p:cNvPr>
            <p:cNvSpPr/>
            <p:nvPr/>
          </p:nvSpPr>
          <p:spPr>
            <a:xfrm>
              <a:off x="981964" y="3048000"/>
              <a:ext cx="3790817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채색</a:t>
              </a:r>
            </a:p>
          </p:txBody>
        </p: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7C6EC88F-FA63-4198-C800-FFE213C1FF23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6" name="그림 55">
            <a:extLst>
              <a:ext uri="{FF2B5EF4-FFF2-40B4-BE49-F238E27FC236}">
                <a16:creationId xmlns:a16="http://schemas.microsoft.com/office/drawing/2014/main" id="{6D978E22-BC9B-B007-74AE-59360EAA54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" t="24667" r="3912" b="34894"/>
          <a:stretch>
            <a:fillRect/>
          </a:stretch>
        </p:blipFill>
        <p:spPr>
          <a:xfrm>
            <a:off x="4111743" y="1304337"/>
            <a:ext cx="3642299" cy="31607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7" name="그림 56" descr="1ebec223e0dc2bae61abe9e74683726d3dd5a6cbed7688a891a46127faa19a335cca76956945a13cc66fff279d756496186e06dc6701e90fdda36045">
            <a:extLst>
              <a:ext uri="{FF2B5EF4-FFF2-40B4-BE49-F238E27FC236}">
                <a16:creationId xmlns:a16="http://schemas.microsoft.com/office/drawing/2014/main" id="{6C5EA9B7-767C-EB5C-A02C-6933D622EB7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" b="43823"/>
          <a:stretch>
            <a:fillRect/>
          </a:stretch>
        </p:blipFill>
        <p:spPr>
          <a:xfrm>
            <a:off x="8093898" y="1317482"/>
            <a:ext cx="2586933" cy="31475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96797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097E4-FE9A-1D1A-0AF1-A1C95B392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CB48531-69A5-2362-BF1B-A9B7956C5F51}"/>
              </a:ext>
            </a:extLst>
          </p:cNvPr>
          <p:cNvSpPr/>
          <p:nvPr/>
        </p:nvSpPr>
        <p:spPr>
          <a:xfrm>
            <a:off x="334963" y="368300"/>
            <a:ext cx="8592727" cy="4905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02. </a:t>
            </a:r>
            <a:r>
              <a:rPr lang="ko-KR" altLang="en-US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캐릭터 비주얼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BCB098A-DCEF-46E1-CCB2-5D7F21A8C2E3}"/>
              </a:ext>
            </a:extLst>
          </p:cNvPr>
          <p:cNvCxnSpPr>
            <a:cxnSpLocks/>
          </p:cNvCxnSpPr>
          <p:nvPr/>
        </p:nvCxnSpPr>
        <p:spPr>
          <a:xfrm>
            <a:off x="334963" y="908050"/>
            <a:ext cx="11341100" cy="0"/>
          </a:xfrm>
          <a:prstGeom prst="line">
            <a:avLst/>
          </a:prstGeom>
          <a:ln w="6350">
            <a:gradFill>
              <a:gsLst>
                <a:gs pos="97000">
                  <a:schemeClr val="accent1">
                    <a:lumMod val="5000"/>
                    <a:lumOff val="95000"/>
                  </a:schemeClr>
                </a:gs>
                <a:gs pos="44000">
                  <a:schemeClr val="accent1">
                    <a:lumMod val="45000"/>
                    <a:lumOff val="55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8836DC16-79D7-05A5-7FE1-15BCA177CFBA}"/>
              </a:ext>
            </a:extLst>
          </p:cNvPr>
          <p:cNvGrpSpPr/>
          <p:nvPr/>
        </p:nvGrpSpPr>
        <p:grpSpPr>
          <a:xfrm>
            <a:off x="611186" y="4664403"/>
            <a:ext cx="3252891" cy="1923209"/>
            <a:chOff x="981964" y="3048000"/>
            <a:chExt cx="3735225" cy="192320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0721B8C-7F7C-AC3D-91F6-7CF866EF206E}"/>
                </a:ext>
              </a:extLst>
            </p:cNvPr>
            <p:cNvSpPr/>
            <p:nvPr/>
          </p:nvSpPr>
          <p:spPr>
            <a:xfrm>
              <a:off x="981964" y="3596610"/>
              <a:ext cx="3735225" cy="13745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크고 동글동글한 눈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작고 단순하게 표현된 손발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짧고 푸짐한 몸통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복장을 통해 노련함을 표현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0DC7923-E14D-D406-529D-3FE7CB986F80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캐릭터 컨셉</a:t>
              </a: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E59EAE5B-CCF7-6CF9-0337-84646CAF0769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EBE50DF2-230A-87BB-D2DF-D7E968C0E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553" y="1309205"/>
            <a:ext cx="3160701" cy="31607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322AD806-1ED5-12FD-CD80-8B2E74D69D97}"/>
              </a:ext>
            </a:extLst>
          </p:cNvPr>
          <p:cNvGrpSpPr/>
          <p:nvPr/>
        </p:nvGrpSpPr>
        <p:grpSpPr>
          <a:xfrm>
            <a:off x="3945553" y="4664403"/>
            <a:ext cx="3160701" cy="1490935"/>
            <a:chOff x="981964" y="3048000"/>
            <a:chExt cx="3629365" cy="1490935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B6AB26BE-AD57-4A38-D6D3-CD5A3A3E14D5}"/>
                </a:ext>
              </a:extLst>
            </p:cNvPr>
            <p:cNvSpPr/>
            <p:nvPr/>
          </p:nvSpPr>
          <p:spPr>
            <a:xfrm>
              <a:off x="981964" y="3596610"/>
              <a:ext cx="3629365" cy="942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둥글고 굵은 브러쉬 선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밝은 채색과 대비되는 어두운 명암의 선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6809A8D-0FA6-A959-EBA9-6193FF04E004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선</a:t>
              </a:r>
              <a:r>
                <a:rPr lang="en-US" altLang="ko-KR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스타일</a:t>
              </a: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78F6B6E-2E67-3B78-D12D-85610F44C6EC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33E49A2-3C39-BA19-DB8E-2DB7D87FCB7A}"/>
              </a:ext>
            </a:extLst>
          </p:cNvPr>
          <p:cNvGrpSpPr/>
          <p:nvPr/>
        </p:nvGrpSpPr>
        <p:grpSpPr>
          <a:xfrm>
            <a:off x="7521985" y="4664403"/>
            <a:ext cx="3528195" cy="1490935"/>
            <a:chOff x="981964" y="3048000"/>
            <a:chExt cx="3629365" cy="1490935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132E9FAB-080B-1F6D-DB2B-F624168058FB}"/>
                </a:ext>
              </a:extLst>
            </p:cNvPr>
            <p:cNvSpPr/>
            <p:nvPr/>
          </p:nvSpPr>
          <p:spPr>
            <a:xfrm>
              <a:off x="981964" y="3596610"/>
              <a:ext cx="3629365" cy="942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단면으로 경계를 나눈 셀 채색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눈을 휘어잡는 강렬한 고채도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A652017-558F-D561-E017-5D878B975FAB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채색</a:t>
              </a:r>
            </a:p>
          </p:txBody>
        </p: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132B7AC0-65A4-8989-F26D-919EA7D3F81D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E86BDB1C-F672-EB3F-5E97-C09232D58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88"/>
          <a:stretch>
            <a:fillRect/>
          </a:stretch>
        </p:blipFill>
        <p:spPr>
          <a:xfrm>
            <a:off x="7483294" y="1304338"/>
            <a:ext cx="3451593" cy="31607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FAD1FBCF-A83B-5B2B-E8C0-989D9D343E01}"/>
              </a:ext>
            </a:extLst>
          </p:cNvPr>
          <p:cNvGrpSpPr/>
          <p:nvPr/>
        </p:nvGrpSpPr>
        <p:grpSpPr>
          <a:xfrm>
            <a:off x="762846" y="1304338"/>
            <a:ext cx="2782994" cy="3164000"/>
            <a:chOff x="8129222" y="-91440"/>
            <a:chExt cx="6032167" cy="6858000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DE7F9DB7-223B-B6EC-7833-1E6843484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8129222" y="-91440"/>
              <a:ext cx="6032167" cy="68580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CA9DB117-70EF-78AD-9210-8905AD09D97C}"/>
                </a:ext>
              </a:extLst>
            </p:cNvPr>
            <p:cNvGrpSpPr/>
            <p:nvPr/>
          </p:nvGrpSpPr>
          <p:grpSpPr>
            <a:xfrm>
              <a:off x="10228464" y="1705863"/>
              <a:ext cx="1753295" cy="675427"/>
              <a:chOff x="6034240" y="2698947"/>
              <a:chExt cx="1471957" cy="567046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6A91883D-8FF5-581E-D666-401B1ABAA5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rcRect l="37782" t="30700" r="17000" b="25681"/>
              <a:stretch>
                <a:fillRect/>
              </a:stretch>
            </p:blipFill>
            <p:spPr>
              <a:xfrm rot="18900000">
                <a:off x="6034240" y="2698948"/>
                <a:ext cx="587840" cy="567045"/>
              </a:xfrm>
              <a:prstGeom prst="rect">
                <a:avLst/>
              </a:prstGeom>
            </p:spPr>
          </p:pic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83026959-F109-C39C-395A-105B68C1B6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rcRect l="37782" t="30700" r="17000" b="25681"/>
              <a:stretch>
                <a:fillRect/>
              </a:stretch>
            </p:blipFill>
            <p:spPr>
              <a:xfrm rot="18900000">
                <a:off x="6918357" y="2698947"/>
                <a:ext cx="587840" cy="567045"/>
              </a:xfrm>
              <a:prstGeom prst="rect">
                <a:avLst/>
              </a:prstGeom>
            </p:spPr>
          </p:pic>
        </p:grpSp>
      </p:grpSp>
      <p:pic>
        <p:nvPicPr>
          <p:cNvPr id="34" name="그림 33" descr="스토리 핀 이미지">
            <a:extLst>
              <a:ext uri="{FF2B5EF4-FFF2-40B4-BE49-F238E27FC236}">
                <a16:creationId xmlns:a16="http://schemas.microsoft.com/office/drawing/2014/main" id="{ADEBD899-8A70-DF6F-C013-1E23DE74D8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86" b="89755" l="6771" r="89931">
                        <a14:foregroundMark x1="18750" y1="30734" x2="10243" y2="35474"/>
                        <a14:foregroundMark x1="6944" y1="37003" x2="9375" y2="41590"/>
                        <a14:foregroundMark x1="41319" y1="9786" x2="45660" y2="9786"/>
                        <a14:foregroundMark x1="11111" y1="26300" x2="9201" y2="30887"/>
                        <a14:foregroundMark x1="9028" y1="27064" x2="7292" y2="30581"/>
                        <a14:backgroundMark x1="13715" y1="41284" x2="17361" y2="50459"/>
                        <a14:backgroundMark x1="24653" y1="31498" x2="36632" y2="47401"/>
                        <a14:backgroundMark x1="20139" y1="32110" x2="26910" y2="42049"/>
                        <a14:backgroundMark x1="32986" y1="28440" x2="46181" y2="28135"/>
                        <a14:backgroundMark x1="46181" y1="28135" x2="46181" y2="28135"/>
                        <a14:backgroundMark x1="32986" y1="27829" x2="38194" y2="26453"/>
                        <a14:backgroundMark x1="26910" y1="28899" x2="30382" y2="27829"/>
                        <a14:backgroundMark x1="32118" y1="27676" x2="35243" y2="26453"/>
                        <a14:backgroundMark x1="52431" y1="27217" x2="60938" y2="29052"/>
                        <a14:backgroundMark x1="65278" y1="30581" x2="76736" y2="41743"/>
                        <a14:backgroundMark x1="55556" y1="27217" x2="59549" y2="28287"/>
                        <a14:backgroundMark x1="57465" y1="27064" x2="61806" y2="28440"/>
                        <a14:backgroundMark x1="77257" y1="39450" x2="76389" y2="48165"/>
                        <a14:backgroundMark x1="53299" y1="46330" x2="58854" y2="61315"/>
                        <a14:backgroundMark x1="28125" y1="53211" x2="45486" y2="66667"/>
                      </a14:backgroundRemoval>
                    </a14:imgEffect>
                  </a14:imgLayer>
                </a14:imgProps>
              </a:ext>
            </a:extLst>
          </a:blip>
          <a:srcRect b="52361"/>
          <a:stretch>
            <a:fillRect/>
          </a:stretch>
        </p:blipFill>
        <p:spPr>
          <a:xfrm>
            <a:off x="1141820" y="1104116"/>
            <a:ext cx="2273826" cy="122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997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4AEA7-E801-70A3-7962-86CF44709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4F72938-4BA1-D614-AA90-E992F8F62C23}"/>
              </a:ext>
            </a:extLst>
          </p:cNvPr>
          <p:cNvSpPr/>
          <p:nvPr/>
        </p:nvSpPr>
        <p:spPr>
          <a:xfrm>
            <a:off x="334963" y="368300"/>
            <a:ext cx="8592727" cy="4905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03. </a:t>
            </a:r>
            <a:r>
              <a:rPr lang="ko-KR" altLang="en-US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버섯 비주얼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C55AD62-58B6-5476-4AF3-876D3471D044}"/>
              </a:ext>
            </a:extLst>
          </p:cNvPr>
          <p:cNvCxnSpPr>
            <a:cxnSpLocks/>
          </p:cNvCxnSpPr>
          <p:nvPr/>
        </p:nvCxnSpPr>
        <p:spPr>
          <a:xfrm>
            <a:off x="334963" y="908050"/>
            <a:ext cx="11341100" cy="0"/>
          </a:xfrm>
          <a:prstGeom prst="line">
            <a:avLst/>
          </a:prstGeom>
          <a:ln w="6350">
            <a:gradFill>
              <a:gsLst>
                <a:gs pos="97000">
                  <a:schemeClr val="accent1">
                    <a:lumMod val="5000"/>
                    <a:lumOff val="95000"/>
                  </a:schemeClr>
                </a:gs>
                <a:gs pos="44000">
                  <a:schemeClr val="accent1">
                    <a:lumMod val="45000"/>
                    <a:lumOff val="55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C673106E-EAC8-35B1-8658-EF7DEB4B4C44}"/>
              </a:ext>
            </a:extLst>
          </p:cNvPr>
          <p:cNvGrpSpPr/>
          <p:nvPr/>
        </p:nvGrpSpPr>
        <p:grpSpPr>
          <a:xfrm>
            <a:off x="611186" y="4664403"/>
            <a:ext cx="3160701" cy="1923209"/>
            <a:chOff x="981964" y="3048000"/>
            <a:chExt cx="3629365" cy="192320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E08587D-DB0B-B30F-F234-44F57F1A51A0}"/>
                </a:ext>
              </a:extLst>
            </p:cNvPr>
            <p:cNvSpPr/>
            <p:nvPr/>
          </p:nvSpPr>
          <p:spPr>
            <a:xfrm>
              <a:off x="981964" y="3596610"/>
              <a:ext cx="3629365" cy="13745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무각의 동글동글한 화풍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현실의 버섯과 상상 속 판타지 버섯 출현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C7CA472-6874-D6CC-E679-BF3E7053FD61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버섯 컨셉</a:t>
              </a: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C258DCD0-99F6-0B35-2DC1-C4C8BB7BF483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7A265AD-65D0-9CF7-6EA7-099380465A8A}"/>
              </a:ext>
            </a:extLst>
          </p:cNvPr>
          <p:cNvGrpSpPr/>
          <p:nvPr/>
        </p:nvGrpSpPr>
        <p:grpSpPr>
          <a:xfrm>
            <a:off x="4135361" y="4664403"/>
            <a:ext cx="3160701" cy="1490935"/>
            <a:chOff x="981964" y="3048000"/>
            <a:chExt cx="3629365" cy="1490935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BEEE660E-0573-4D8E-16EA-1B9500059B1D}"/>
                </a:ext>
              </a:extLst>
            </p:cNvPr>
            <p:cNvSpPr/>
            <p:nvPr/>
          </p:nvSpPr>
          <p:spPr>
            <a:xfrm>
              <a:off x="981964" y="3596610"/>
              <a:ext cx="3629365" cy="942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둥글고 굵은 브러쉬 선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밝은 채색과 대비되는 어두운 명암의 선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98443FB-F6EE-10BA-0B5D-69C51C74746F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선</a:t>
              </a:r>
              <a:r>
                <a:rPr lang="en-US" altLang="ko-KR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스타일</a:t>
              </a: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C5D97C6-92E9-E428-05E8-FC8820590C07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32043BB-4F83-30AD-1CF7-62F68EF72A79}"/>
              </a:ext>
            </a:extLst>
          </p:cNvPr>
          <p:cNvGrpSpPr/>
          <p:nvPr/>
        </p:nvGrpSpPr>
        <p:grpSpPr>
          <a:xfrm>
            <a:off x="8011903" y="4664403"/>
            <a:ext cx="3528195" cy="1923207"/>
            <a:chOff x="981964" y="3048000"/>
            <a:chExt cx="3629365" cy="1923207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62B94582-0F7D-1E70-3E1A-8E9A32FB1C13}"/>
                </a:ext>
              </a:extLst>
            </p:cNvPr>
            <p:cNvSpPr/>
            <p:nvPr/>
          </p:nvSpPr>
          <p:spPr>
            <a:xfrm>
              <a:off x="981964" y="3596610"/>
              <a:ext cx="3629365" cy="13745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단면으로 경계를 나눈 셀 채색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눈을 휘어잡는 강렬한 고채도 색감을 통해</a:t>
              </a:r>
              <a:br>
                <a:rPr lang="en-US" altLang="ko-KR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</a:b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신비로운 분위기를 표현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덩어리 진 질감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7181EFA-D45E-95EA-CFC1-A232E87510A6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채색</a:t>
              </a:r>
            </a:p>
          </p:txBody>
        </p: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D54C5A86-0240-B353-1798-921D27E4E3D4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ED9BAC77-6D5E-BC4B-6B00-60FE142C6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7"/>
          <a:stretch>
            <a:fillRect/>
          </a:stretch>
        </p:blipFill>
        <p:spPr>
          <a:xfrm>
            <a:off x="4135361" y="1304338"/>
            <a:ext cx="3471639" cy="31607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그림 14" descr="스토리 핀 이미지">
            <a:extLst>
              <a:ext uri="{FF2B5EF4-FFF2-40B4-BE49-F238E27FC236}">
                <a16:creationId xmlns:a16="http://schemas.microsoft.com/office/drawing/2014/main" id="{D41C69D8-0C06-B387-FA67-31BEA1466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903" y="1304338"/>
            <a:ext cx="3169927" cy="31699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3A13A993-8B16-504D-902A-E76D13CFBF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1" b="9092"/>
          <a:stretch>
            <a:fillRect/>
          </a:stretch>
        </p:blipFill>
        <p:spPr>
          <a:xfrm>
            <a:off x="611186" y="1304337"/>
            <a:ext cx="3119272" cy="31606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96378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4C9B8-1D39-30CC-9720-21DEAFA51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02E9FF5-5884-3EEF-2ED7-892F06A7A8B8}"/>
              </a:ext>
            </a:extLst>
          </p:cNvPr>
          <p:cNvSpPr/>
          <p:nvPr/>
        </p:nvSpPr>
        <p:spPr>
          <a:xfrm>
            <a:off x="334963" y="368300"/>
            <a:ext cx="8592727" cy="4905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04. </a:t>
            </a:r>
            <a:r>
              <a:rPr lang="ko-KR" altLang="en-US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수확기 비주얼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C88572F-EC1B-78E6-F17A-3D23DC9E173B}"/>
              </a:ext>
            </a:extLst>
          </p:cNvPr>
          <p:cNvCxnSpPr>
            <a:cxnSpLocks/>
          </p:cNvCxnSpPr>
          <p:nvPr/>
        </p:nvCxnSpPr>
        <p:spPr>
          <a:xfrm>
            <a:off x="334963" y="908050"/>
            <a:ext cx="11341100" cy="0"/>
          </a:xfrm>
          <a:prstGeom prst="line">
            <a:avLst/>
          </a:prstGeom>
          <a:ln w="6350">
            <a:gradFill>
              <a:gsLst>
                <a:gs pos="97000">
                  <a:schemeClr val="accent1">
                    <a:lumMod val="5000"/>
                    <a:lumOff val="95000"/>
                  </a:schemeClr>
                </a:gs>
                <a:gs pos="44000">
                  <a:schemeClr val="accent1">
                    <a:lumMod val="45000"/>
                    <a:lumOff val="55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FAB88EEE-089F-5E07-9B0B-980C607E2F84}"/>
              </a:ext>
            </a:extLst>
          </p:cNvPr>
          <p:cNvGrpSpPr/>
          <p:nvPr/>
        </p:nvGrpSpPr>
        <p:grpSpPr>
          <a:xfrm>
            <a:off x="611186" y="4664403"/>
            <a:ext cx="3341054" cy="1923209"/>
            <a:chOff x="981964" y="3048000"/>
            <a:chExt cx="3836460" cy="192320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776FDAF-2B0A-1F8D-9613-885509FEA8F4}"/>
                </a:ext>
              </a:extLst>
            </p:cNvPr>
            <p:cNvSpPr/>
            <p:nvPr/>
          </p:nvSpPr>
          <p:spPr>
            <a:xfrm>
              <a:off x="981964" y="3596610"/>
              <a:ext cx="3836460" cy="13745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추가 능력치에 맞는 형태로 표현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예 </a:t>
              </a:r>
              <a:r>
                <a:rPr lang="en-US" altLang="ko-KR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1) </a:t>
              </a: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공격력이 높으면 무거운 외형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예 </a:t>
              </a:r>
              <a:r>
                <a:rPr lang="en-US" altLang="ko-KR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2) </a:t>
              </a: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크리티컬 확률이 높으면 예리한 외형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예 </a:t>
              </a:r>
              <a:r>
                <a:rPr lang="en-US" altLang="ko-KR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3) </a:t>
              </a: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속도가 빠르면 작고 가는 외형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EE10EC6-AEDC-22BC-0251-163EE6733114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수확기 컨셉</a:t>
              </a: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FAC7111E-39C6-10EC-3D15-31FC97FD8059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B4E4A47-1BD2-3C12-BA69-CCB771F905BE}"/>
              </a:ext>
            </a:extLst>
          </p:cNvPr>
          <p:cNvGrpSpPr/>
          <p:nvPr/>
        </p:nvGrpSpPr>
        <p:grpSpPr>
          <a:xfrm>
            <a:off x="4124375" y="4664403"/>
            <a:ext cx="3504613" cy="1655117"/>
            <a:chOff x="981964" y="3048000"/>
            <a:chExt cx="3836460" cy="1655117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BF9D101-7A2F-38FF-CBFD-A4F6E83DA0E1}"/>
                </a:ext>
              </a:extLst>
            </p:cNvPr>
            <p:cNvSpPr/>
            <p:nvPr/>
          </p:nvSpPr>
          <p:spPr>
            <a:xfrm>
              <a:off x="981964" y="3596610"/>
              <a:ext cx="3836460" cy="11065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맵</a:t>
              </a:r>
              <a:r>
                <a:rPr lang="en-US" altLang="ko-KR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, </a:t>
              </a: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캐릭터보다 눈에 잘 띄도록</a:t>
              </a:r>
              <a:br>
                <a:rPr lang="en-US" altLang="ko-KR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</a:b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매우 굵은 유테 선 사용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밝은 채색과 대비되는 어두운 명암의 선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8D71E20-0703-9706-9DA5-5136E5BAD886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선</a:t>
              </a:r>
              <a:r>
                <a:rPr lang="en-US" altLang="ko-KR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스타일</a:t>
              </a: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63CC5489-4516-D7F7-9BC9-8AFB76FAAD45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40EC063-7749-A898-D560-622DC963C3F1}"/>
              </a:ext>
            </a:extLst>
          </p:cNvPr>
          <p:cNvGrpSpPr/>
          <p:nvPr/>
        </p:nvGrpSpPr>
        <p:grpSpPr>
          <a:xfrm>
            <a:off x="7981480" y="4664403"/>
            <a:ext cx="3170026" cy="1490935"/>
            <a:chOff x="981964" y="3048000"/>
            <a:chExt cx="3629365" cy="1490935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79D979E-DE1A-42D1-9190-0B95575C8504}"/>
                </a:ext>
              </a:extLst>
            </p:cNvPr>
            <p:cNvSpPr/>
            <p:nvPr/>
          </p:nvSpPr>
          <p:spPr>
            <a:xfrm>
              <a:off x="981964" y="3596610"/>
              <a:ext cx="3629365" cy="942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단면으로 경계를 나눈 셀 채색</a:t>
              </a:r>
              <a:br>
                <a:rPr lang="en-US" altLang="ko-KR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</a:b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회색 또는 검은색의 어두운 금속 색상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A108031-B71C-91CA-87B1-DFFF7907DC1D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채색</a:t>
              </a:r>
            </a:p>
          </p:txBody>
        </p: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2D53448D-4F1E-A262-5765-E86C643BF1A5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F83A0695-BF5E-9A88-CEF6-6910D0934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376" y="1296869"/>
            <a:ext cx="3504613" cy="31681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6F26157-3524-D221-B870-5D4C1615A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62" y="1296869"/>
            <a:ext cx="3170025" cy="31607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703F711-6F74-0F00-0356-60947E0E3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479" y="1296435"/>
            <a:ext cx="3170026" cy="31700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91848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DCD2C-90D0-A092-62F7-E005CB194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87783D3-DDA7-36F5-1F64-611FFA4839F5}"/>
              </a:ext>
            </a:extLst>
          </p:cNvPr>
          <p:cNvSpPr/>
          <p:nvPr/>
        </p:nvSpPr>
        <p:spPr>
          <a:xfrm>
            <a:off x="334963" y="368300"/>
            <a:ext cx="8592727" cy="4905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05. </a:t>
            </a:r>
            <a:r>
              <a:rPr lang="ko-KR" altLang="en-US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슬라이드 바 비주얼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F4F1966-C0FB-240C-5256-A456473FFBCB}"/>
              </a:ext>
            </a:extLst>
          </p:cNvPr>
          <p:cNvCxnSpPr>
            <a:cxnSpLocks/>
          </p:cNvCxnSpPr>
          <p:nvPr/>
        </p:nvCxnSpPr>
        <p:spPr>
          <a:xfrm>
            <a:off x="334963" y="908050"/>
            <a:ext cx="11341100" cy="0"/>
          </a:xfrm>
          <a:prstGeom prst="line">
            <a:avLst/>
          </a:prstGeom>
          <a:ln w="6350">
            <a:gradFill>
              <a:gsLst>
                <a:gs pos="97000">
                  <a:schemeClr val="accent1">
                    <a:lumMod val="5000"/>
                    <a:lumOff val="95000"/>
                  </a:schemeClr>
                </a:gs>
                <a:gs pos="44000">
                  <a:schemeClr val="accent1">
                    <a:lumMod val="45000"/>
                    <a:lumOff val="55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16868CC9-09C8-60C4-A68E-E9B8AB8D96DB}"/>
              </a:ext>
            </a:extLst>
          </p:cNvPr>
          <p:cNvGrpSpPr/>
          <p:nvPr/>
        </p:nvGrpSpPr>
        <p:grpSpPr>
          <a:xfrm>
            <a:off x="598801" y="3429000"/>
            <a:ext cx="5450585" cy="989067"/>
            <a:chOff x="981964" y="3048000"/>
            <a:chExt cx="3836460" cy="98906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25BE8B5-86E2-6F79-92FE-AF9099B5885C}"/>
                </a:ext>
              </a:extLst>
            </p:cNvPr>
            <p:cNvSpPr/>
            <p:nvPr/>
          </p:nvSpPr>
          <p:spPr>
            <a:xfrm>
              <a:off x="981964" y="3596611"/>
              <a:ext cx="3836460" cy="4404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일자형의 단순한 나무 바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18453B1-C0AA-90D8-64D1-4E6550C3FDF4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슬라이드 바 컨셉</a:t>
              </a: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CA61012-A010-8C53-7C3B-650C162611D7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BF4072A-4858-5E7A-E647-5825BF849817}"/>
              </a:ext>
            </a:extLst>
          </p:cNvPr>
          <p:cNvGrpSpPr/>
          <p:nvPr/>
        </p:nvGrpSpPr>
        <p:grpSpPr>
          <a:xfrm>
            <a:off x="598801" y="4664403"/>
            <a:ext cx="3341054" cy="1655117"/>
            <a:chOff x="981964" y="3048000"/>
            <a:chExt cx="3836460" cy="1655117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02750D5-2E53-AE14-4745-FD627A84AE3D}"/>
                </a:ext>
              </a:extLst>
            </p:cNvPr>
            <p:cNvSpPr/>
            <p:nvPr/>
          </p:nvSpPr>
          <p:spPr>
            <a:xfrm>
              <a:off x="981964" y="3596610"/>
              <a:ext cx="3836460" cy="11065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맵</a:t>
              </a:r>
              <a:r>
                <a:rPr lang="en-US" altLang="ko-KR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, </a:t>
              </a: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캐릭터보다 눈에 잘 띄도록</a:t>
              </a:r>
              <a:br>
                <a:rPr lang="en-US" altLang="ko-KR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</a:b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매우 굵은 유테 선 사용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밝은 채색과 대비되는 어두운 명암의 선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6A38B8A-44E0-03D7-DE7A-4D70F437A220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선</a:t>
              </a:r>
              <a:r>
                <a:rPr lang="en-US" altLang="ko-KR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스타일</a:t>
              </a: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458BED33-EC88-006B-9375-DEF3F6E19413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E79D98F-7086-8079-710A-2672C938E820}"/>
              </a:ext>
            </a:extLst>
          </p:cNvPr>
          <p:cNvGrpSpPr/>
          <p:nvPr/>
        </p:nvGrpSpPr>
        <p:grpSpPr>
          <a:xfrm>
            <a:off x="6547226" y="4664403"/>
            <a:ext cx="3528195" cy="1655117"/>
            <a:chOff x="981964" y="3048000"/>
            <a:chExt cx="3629365" cy="1655117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3EBD82C0-CD0D-10E5-8DD3-EAF31D02BB4D}"/>
                </a:ext>
              </a:extLst>
            </p:cNvPr>
            <p:cNvSpPr/>
            <p:nvPr/>
          </p:nvSpPr>
          <p:spPr>
            <a:xfrm>
              <a:off x="981964" y="3596610"/>
              <a:ext cx="3629365" cy="11065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단면으로 경계를 나눈 셀 채색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눈을 휘어잡는 강렬한 고채도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갈색 위주의 채색으로 나무의 질감을 표현</a:t>
              </a:r>
              <a:endParaRPr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3D7CBF7-CBA2-9AEB-D5A7-C43477157055}"/>
                </a:ext>
              </a:extLst>
            </p:cNvPr>
            <p:cNvSpPr/>
            <p:nvPr/>
          </p:nvSpPr>
          <p:spPr>
            <a:xfrm>
              <a:off x="981964" y="3048000"/>
              <a:ext cx="3629365" cy="440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채색</a:t>
              </a:r>
            </a:p>
          </p:txBody>
        </p: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5171F091-115E-49AC-061F-263DE21B1AAA}"/>
                </a:ext>
              </a:extLst>
            </p:cNvPr>
            <p:cNvCxnSpPr>
              <a:cxnSpLocks/>
            </p:cNvCxnSpPr>
            <p:nvPr/>
          </p:nvCxnSpPr>
          <p:spPr>
            <a:xfrm>
              <a:off x="981964" y="3508120"/>
              <a:ext cx="3629365" cy="0"/>
            </a:xfrm>
            <a:prstGeom prst="line">
              <a:avLst/>
            </a:prstGeom>
            <a:ln w="6350">
              <a:gradFill>
                <a:gsLst>
                  <a:gs pos="97000">
                    <a:schemeClr val="accent1">
                      <a:lumMod val="5000"/>
                      <a:lumOff val="95000"/>
                    </a:schemeClr>
                  </a:gs>
                  <a:gs pos="44000">
                    <a:schemeClr val="accent1">
                      <a:lumMod val="45000"/>
                      <a:lumOff val="55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A9DEC873-FF3F-AE99-4751-A2C7E566D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02" y="1260043"/>
            <a:ext cx="5450585" cy="19192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8C3A1D0-6603-3F90-E02D-525889D5DF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47226" y="1291343"/>
            <a:ext cx="3209535" cy="32095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00037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귤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노토 산스 고정">
      <a:majorFont>
        <a:latin typeface="Noto Sans KR"/>
        <a:ea typeface="Noto Sans KR"/>
        <a:cs typeface=""/>
      </a:majorFont>
      <a:minorFont>
        <a:latin typeface="Noto Sans KR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393</Words>
  <Application>Microsoft Office PowerPoint</Application>
  <PresentationFormat>와이드스크린</PresentationFormat>
  <Paragraphs>104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Noto Sans KR</vt:lpstr>
      <vt:lpstr>맑은 고딕</vt:lpstr>
      <vt:lpstr>Arial</vt:lpstr>
      <vt:lpstr>Office 테마</vt:lpstr>
      <vt:lpstr>모어 머스트 머쉬 MORE MUST MUSH</vt:lpstr>
      <vt:lpstr>PowerPoint 프레젠테이션</vt:lpstr>
      <vt:lpstr>PowerPoint 프레젠테이션</vt:lpstr>
      <vt:lpstr>컨셉 테마</vt:lpstr>
      <vt:lpstr>PowerPoint 프레젠테이션</vt:lpstr>
      <vt:lpstr>PowerPoint 프레젠테이션</vt:lpstr>
      <vt:lpstr>요소별 비주얼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이 동현</cp:lastModifiedBy>
  <cp:revision>143</cp:revision>
  <dcterms:created xsi:type="dcterms:W3CDTF">2026-09-29T04:24:05Z</dcterms:created>
  <dcterms:modified xsi:type="dcterms:W3CDTF">2026-09-30T15:32:53Z</dcterms:modified>
</cp:coreProperties>
</file>